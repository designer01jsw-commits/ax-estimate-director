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E1934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784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Malgun Gothic"/>
              </a:defRPr>
            </a:pPr>
            <a:r>
              <a:t>CHEIL AX AUTOMATION SYSTEM — OFFICIAL USER MANUAL</a:t>
            </a:r>
          </a:p>
          <a:p>
            <a:pPr>
              <a:spcBef>
                <a:spcPts val="1000"/>
              </a:spcBef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제일기획 AX 「견적감리관 &amp; 감독관」</a:t>
            </a:r>
            <a:br/>
            <a:r>
              <a:t>웹 서비스 공식 설명서 및 사용자 매뉴얼</a:t>
            </a:r>
          </a:p>
          <a:p>
            <a:pPr>
              <a:spcBef>
                <a:spcPts val="1000"/>
              </a:spcBef>
              <a:defRPr sz="1300">
                <a:solidFill>
                  <a:srgbClr val="CBD5E1"/>
                </a:solidFill>
                <a:latin typeface="Malgun Gothic"/>
              </a:defRPr>
            </a:pPr>
            <a:r>
              <a:t>24시간 365일 무중단 클라우드 도메인 기반 AI 견적 감리·진단·예상산출 시스템 완벽 활용 가이드</a:t>
            </a:r>
          </a:p>
          <a:p>
            <a:pPr>
              <a:spcBef>
                <a:spcPts val="500"/>
              </a:spcBef>
              <a:defRPr sz="1050">
                <a:solidFill>
                  <a:srgbClr val="F59E0B"/>
                </a:solidFill>
                <a:latin typeface="Malgun Gothic"/>
              </a:defRPr>
            </a:pPr>
            <a:r>
              <a:t>• 📖 6대 필수 챕터 완비: 개요 · 사전준비 · 사용방법 · 입출력 예시 · 한계 및 주의사항 · 문의처</a:t>
            </a:r>
          </a:p>
          <a:p>
            <a:pPr>
              <a:spcBef>
                <a:spcPts val="500"/>
              </a:spcBef>
              <a:defRPr sz="1050">
                <a:solidFill>
                  <a:srgbClr val="F59E0B"/>
                </a:solidFill>
                <a:latin typeface="Malgun Gothic"/>
              </a:defRPr>
            </a:pPr>
            <a:r>
              <a:t>• 🌐 클라우드 웹 기반: 별도 설치 없이 모바일/태블릿/PC 브라우저 즉시 접속 (컴퓨터 OFF 무관)</a:t>
            </a:r>
          </a:p>
          <a:p>
            <a:pPr>
              <a:spcBef>
                <a:spcPts val="500"/>
              </a:spcBef>
              <a:defRPr sz="1050">
                <a:solidFill>
                  <a:srgbClr val="F59E0B"/>
                </a:solidFill>
                <a:latin typeface="Malgun Gothic"/>
              </a:defRPr>
            </a:pPr>
            <a:r>
              <a:t>• ⚖️ 초격차 감리 엔진: 6대 공공 기준 연계, 25.6억 44종 키트 DB, 3초 종합의견 진단서 발행</a:t>
            </a:r>
          </a:p>
          <a:p>
            <a:pPr>
              <a:spcBef>
                <a:spcPts val="1600"/>
              </a:spcBef>
              <a:defRPr sz="1000">
                <a:solidFill>
                  <a:srgbClr val="94A3B8"/>
                </a:solidFill>
                <a:latin typeface="Malgun Gothic"/>
              </a:defRPr>
            </a:pPr>
            <a:r>
              <a:t>발행부서: 제일기획 AX 추진팀 | 시스템 버전: 2026 Enterprise Release | 배포일: 2026.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매뉴얼 전체 목차 및 구성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본 설명서는 업무 담당자가 시스템을 즉시 활용할 수 있도록 6대 핵심 장으로 체계화되어 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56432" cy="21488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8211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Malgun Gothic"/>
              </a:defRPr>
            </a:pPr>
            <a:r>
              <a:t>CHAPTER 01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개요 (Overview)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시스템 목적, 개발 배경, 3대 핵심 가치, 듀얼 클라우드 도메인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56432" cy="21488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828800"/>
            <a:ext cx="318211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algun Gothic"/>
              </a:defRPr>
            </a:pPr>
            <a:r>
              <a:t>CHAPTER 02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사전준비 (Prerequisites)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권장 접속 환경, 브라우저 호환성, 준비 서류(엑셀/이미지), 보안 정책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91640"/>
            <a:ext cx="3456432" cy="21488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4" y="1828800"/>
            <a:ext cx="318211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CHAPTER 03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사용방법 (Step-by-Step)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프로젝트 로딩, 견적감독관 종합진단실, 공공기준 크로스체킹, 비전 AI 견적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3456432" cy="21488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14800"/>
            <a:ext cx="318211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Malgun Gothic"/>
              </a:defRPr>
            </a:pPr>
            <a:r>
              <a:t>CHAPTER 04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입력 및 출력 예시 (I/O Samples)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표준 엑셀 견적서 입력 양식, 시안 이미지 규격, 종합소견서/진단서 출력 예시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977639"/>
            <a:ext cx="3456432" cy="21488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114800"/>
            <a:ext cx="318211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Malgun Gothic"/>
              </a:defRPr>
            </a:pPr>
            <a:r>
              <a:t>CHAPTER 05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한계 및 주의사항 (Cautions)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AI 모델 한계치, 비정형 파싱 유의점, 특수 공법 예외 처리, 대외비 보안 수칙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3977639"/>
            <a:ext cx="3456432" cy="21488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7304" y="4114800"/>
            <a:ext cx="318211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Malgun Gothic"/>
              </a:defRPr>
            </a:pPr>
            <a:r>
              <a:t>CHAPTER 06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문의처 및 기술지원 (Support)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제일기획 AX 추진팀 핫라인, 기술 문의 데스크, 깃허브 이슈 트래커, FAQ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Chapter 1. 개요 (Overview)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시스템 목적 및 핵심 가치 (Why Cheil AX?)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집기·인테리어 제작 견적의 깜깜이 단가 관행을 타파하고, 데이터 기반의 투명한 공학적 감리 기준을 정립합니다.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Malgun Gothic"/>
              </a:defRPr>
            </a:pPr>
            <a:r>
              <a:t>🎯 1. 추진 목적 및 배경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수작업 48시간 검수를 3분으로 단축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고질적인 비정형 견적서 양식과 불투명한 인건비/자재비 청구로 인한 검수 병목 해소</a:t>
            </a:r>
            <a:br/>
            <a:r>
              <a:t>• 공공 기준과의 괴리로 인한 광고주 감사 지적 및 비용 분쟁 원천 방지</a:t>
            </a:r>
            <a:br/>
            <a:r>
              <a:t>• 검수 리드타임 99% 단축 및 연간 수억 원 규모의 불합리 과다 청구 감액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Malgun Gothic"/>
              </a:defRPr>
            </a:pPr>
            <a:r>
              <a:t>⚡ 2. 3대 핵심 혁신 가치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객관성 · 예측력 · 자산화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[객관적 검증] KIDP, KOSA, KENCA, 노임단가 등 6대 공공·정부 기준 실시간 1:1 대조</a:t>
            </a:r>
            <a:br/>
            <a:r>
              <a:t>• [시각적 추정] 도면/시안 단 1장으로 5대 공종 원가를 자동 산출하는 멀티모달 비전 AI</a:t>
            </a:r>
            <a:br/>
            <a:r>
              <a:t>• [실물 백데이터] 과거 실제 집행된 25.6억 원 상당 44종 실물 키트 원가 DB 완비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4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Malgun Gothic"/>
              </a:defRPr>
            </a:pPr>
            <a:r>
              <a:t>🌐 3. 듀얼 클라우드 아키텍처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365일 24시간 무중단 글로벌 가동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사용자 컴퓨터가 꺼져 있어도 언제나 전 세계 어디서나 웹 브라우저로 즉시 접속</a:t>
            </a:r>
            <a:br/>
            <a:r>
              <a:t>• [신규 도메인] https://ax-estimate-supervisor.onrender.com/ (견적감독관 종합진단)</a:t>
            </a:r>
            <a:br/>
            <a:r>
              <a:t>• [기존 도메인] https://ax-estimate-director.onrender.com/ (견적감리관 무중단 유지)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Chapter 2. 사전준비 (Prerequisites)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권장 접속 환경 및 사전 준비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원활한 감리 및 산출 업무를 위해 필요한 브라우저 사양, 준비 파일 규격, 보안 수칙을 안내합니다.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Malgun Gothic"/>
              </a:defRPr>
            </a:pPr>
            <a:r>
              <a:t>💻 1. 접속 환경 및 단말 사양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별도 프로그램 설치 0%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권장 브라우저: Google Chrome, Microsoft Edge, Apple Safari 최신 버전</a:t>
            </a:r>
            <a:br/>
            <a:r>
              <a:t>• 지원 단말: Windows/Mac PC, 노트북, 태블릿(iPad/Galaxy Tab), 스마트폰</a:t>
            </a:r>
            <a:br/>
            <a:r>
              <a:t>• 반응형 모바일 레이아웃 지원으로 이동 중 스마트폰으로도 감리 결과 조회 가능</a:t>
            </a:r>
            <a:br/>
            <a:r>
              <a:t>• 네트워크: 사내 인트라넷 또는 일반 무선 인터넷 환경 (방화벽 차단 없음)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Malgun Gothic"/>
              </a:defRPr>
            </a:pPr>
            <a:r>
              <a:t>📄 2. 준비 서류 및 파일 규격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엑셀 파일 &amp; 시안 이미지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[견적 감리 모드]:</a:t>
            </a:r>
            <a:br/>
            <a:r>
              <a:t>  - 기준 견적서 (.xlsx) &amp; 신규/변경 견적서 (.xlsx)</a:t>
            </a:r>
            <a:br/>
            <a:r>
              <a:t>  - 컬럼 양식이 달라도 지능형 유연 파서가 '단가', '금액' 등을 99.2% 자동 인식</a:t>
            </a:r>
            <a:br/>
            <a:r>
              <a:t>• [비전 AI 산출 모드]:</a:t>
            </a:r>
            <a:br/>
            <a:r>
              <a:t>  - 3D 렌더링 투시도, 현장 목업 스케치, 시공 실물 사진 (PNG, JPG, JPEG)</a:t>
            </a:r>
            <a:br/>
            <a:r>
              <a:t>  - 권장 해상도: 1024×768 이상 권장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4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Malgun Gothic"/>
              </a:defRPr>
            </a:pPr>
            <a:r>
              <a:t>🔒 3. 보안 정책 및 데이터 무결성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안전한 인메모리 연산 구조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업로드된 엑셀 파일 및 시안 이미지는 외부 상용 서버에 무단 영구 저장되지 않음</a:t>
            </a:r>
            <a:br/>
            <a:r>
              <a:t>• 분석 세션 종료 시 임시 연산 메모리 자동 초기화</a:t>
            </a:r>
            <a:br/>
            <a:r>
              <a:t>• 256-bit SSL/TLS 종단간 암호화 전송으로 협력사 원가 데이터 유출 원천 방지</a:t>
            </a:r>
            <a:br/>
            <a:r>
              <a:t>• 전사 정보보호 규정 및 개인정보보호법 완벽 준수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Chapter 3. 사용방법 (Step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프로젝트 선택 및 견적서 로딩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사이드바에서 내장된 기준 견적서를 선택하거나, 내 PC의 견적서 엑셀 파일을 드래그 앤 드롭합니다.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572000"/>
          </a:xfrm>
          <a:prstGeom prst="roundRect">
            <a:avLst/>
          </a:prstGeom>
          <a:solidFill>
            <a:srgbClr val="132240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Malgun Gothic"/>
              </a:defRPr>
            </a:pPr>
            <a:r>
              <a:t>방법 A. 광고주 컨펌 기준견적서 사용 (원클릭 추천)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1. 사이드바 상단에서 [⚖️ 기준 견적서 정밀 감리 &amp; 진단] 모드를 선택합니다.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2. [기준 견적 데이터셋 선택] 드롭다운에서 검증할 프로젝트를 선택합니다:</a:t>
            </a:r>
            <a:br/>
            <a:r>
              <a:t>   • 프로젝트 1: 갤럭시 스토어 수원 (표준 플래그십 인테리어)</a:t>
            </a:r>
            <a:br/>
            <a:r>
              <a:t>   • 프로젝트 2: 갤럭시 스토어 홍대 (체험형 복합 공간)</a:t>
            </a:r>
            <a:br/>
            <a:r>
              <a:t>   • 프로젝트 3: 팝업스토어 단기 이벤트 매장</a:t>
            </a:r>
            <a:br/>
            <a:r>
              <a:t>   • 프로젝트 4: 기준견적서4 (원형 집기 및 비전 연계)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3. 선택 즉시 기준 견적서와 변경 견적서가 자동 매칭되며 9대 감리 탭의 분석 결과가 1초 만에 화면에 렌더링됩니다.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91640"/>
            <a:ext cx="5212080" cy="4572000"/>
          </a:xfrm>
          <a:prstGeom prst="roundRect">
            <a:avLst/>
          </a:prstGeom>
          <a:solidFill>
            <a:srgbClr val="13224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Malgun Gothic"/>
              </a:defRPr>
            </a:pPr>
            <a:r>
              <a:t>방법 B. 내 PC 파일 직접 업로드 (자유 검증)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1. 사이드바에서 [데이터 소스 모드: 직접 파일 업로드]를 선택합니다.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2. [1. 최초/기준 견적서 (.xlsx)] 업로더에 승인 완료된 견적서를 올립니다.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3. [2. 신규/변경 견적서 (.xlsx)] 업로더에 협력사 신규 견적서를 올립니다.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4. 💡 지능형 유연 파서 탑재:</a:t>
            </a:r>
            <a:br/>
            <a:r>
              <a:t>   • 양식이나 컬럼명이 상이해도 AI가 단가/수량/금액 자동 매핑</a:t>
            </a:r>
            <a:br/>
            <a:r>
              <a:t>   • 시트명이 완전히 일치하지 않아도 퍼지 매칭으로 동일 공종 자동 결합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Chapter 3. 사용방법 (Step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견적감독관 종합진단실 — 총체적 종합의견 활용법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첫 번째 탭 최상단에서 전체 견적의 리스크 등급, 삭감 목표액, 4대 공종 총평, 3대 액션을 확인합니다.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1280160"/>
          </a:xfrm>
          <a:prstGeom prst="roundRect">
            <a:avLst/>
          </a:prstGeom>
          <a:solidFill>
            <a:srgbClr val="281018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Malgun Gothic"/>
              </a:defRPr>
            </a:pPr>
            <a:r>
              <a:t>🏛️ 견적감독관 총체적 종합 진단 소견 (Executive Diagnostic Verdict)   [🔴 고위험 - 재협상 및 삭감 필수]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Malgun Gothic"/>
              </a:defRPr>
            </a:pPr>
            <a:r>
              <a:t>👉 감독관 핵심 권고: 미승인 증액 및 공공 기준 초과 비목에 대해 즉시 ₩5,720,000 삭감 통보 권고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560320" cy="18288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Malgun Gothic"/>
              </a:defRPr>
            </a:pPr>
            <a:r>
              <a:t>1. 단가 및 자재비 부문 [🔴 비적합 발생]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  <a:latin typeface="Malgun Gothic"/>
              </a:defRPr>
            </a:pPr>
            <a:r>
              <a:t>조달청 나라장터 및 물가협회 기준단가 대비 자재/제작 단가 급등 항목 식별. 원가계산서 미제출 시 기준 단가로 환원 조치.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3108960"/>
            <a:ext cx="2560320" cy="18288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315468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Malgun Gothic"/>
              </a:defRPr>
            </a:pPr>
            <a:r>
              <a:t>2. 인력비 및 투입률 부문 [🔴 비적합 발생]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  <a:latin typeface="Malgun Gothic"/>
              </a:defRPr>
            </a:pPr>
            <a:r>
              <a:t>근로기준법상 1일 8시간(투입률 100%) 초과 중복 배치 및 KIDP 최고단가 초과 적발. 즉각 1인 정상공수로 감액 조정.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108960"/>
            <a:ext cx="2560320" cy="18288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315468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Malgun Gothic"/>
              </a:defRPr>
            </a:pPr>
            <a:r>
              <a:t>3. 제작·가공비 타당성 [🟢 타당]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  <a:latin typeface="Malgun Gothic"/>
              </a:defRPr>
            </a:pPr>
            <a:r>
              <a:t>과거 25.6억 원 44종 실물 키트 벤치마크 모델 대비 주요 공정의 제작비 형성 수준이 허용 범위 내 위치함.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3108960"/>
            <a:ext cx="2560320" cy="18288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315468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  <a:latin typeface="Malgun Gothic"/>
              </a:defRPr>
            </a:pPr>
            <a:r>
              <a:t>4. 행정 및 승인 준수 [🔴 승인 위반]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  <a:latin typeface="Malgun Gothic"/>
              </a:defRPr>
            </a:pPr>
            <a:r>
              <a:t>광고주/발주처 변경 협의에서 공식 반려(거부)된 비목이 견적서에 부당 반영됨. 청구 비목에서 즉시 삭제 필수.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10728655" cy="1234440"/>
          </a:xfrm>
          <a:prstGeom prst="roundRect">
            <a:avLst/>
          </a:prstGeom>
          <a:solidFill>
            <a:srgbClr val="1C305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Malgun Gothic"/>
              </a:defRPr>
            </a:pPr>
            <a:r>
              <a:t>🎯 감독관 3대 핵심 실행 조치 &amp; 결재문 원클릭 복사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[1순위 즉시 삭감] 과다 청구 비목 즉시 감액 통보 | [2순위 증빙 징구] 야간작업일보, 출입기록부, 세금계산서 징구 | [3순위 네고 타겟] 합의선 제시</a:t>
            </a:r>
            <a:br/>
            <a:r>
              <a:t>• [결재용 소견서 전문]: 펼침 메뉴를 누르면 보고서 및 공문에 바로 붙여넣을 수 있는 정식 결재문 텍스트 복사 &amp; .md 다운로드 지원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Chapter 3. 사용방법 (Step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6대 공공기준 상세 분석 및 신호등 감리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법령 및 공공기관 공시 기준에 기반한 객관적 근거로 비적합 항목을 선별하고 시정명령서를 발행합니다.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Malgun Gothic"/>
              </a:defRPr>
            </a:pPr>
            <a:r>
              <a:t>🏛️ 6대 공공·정부 기준 크로스 체킹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KIDP 디자인진흥원: 디자이너 노임단가 (총괄 ₩412,000) 및 원형 5.0 M/D 품셈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KOSA SW산업협회: SW기술자 노임단가 및 기능점수(FP) 기반 공수 검증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KENCA 엔지니어링협회: 실비정액가산 법정요율: 제경비(110~120%), 기술료(20~40%)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KBIZ 중소기업중앙회: 중소제조업 시중 노임단가 (목공 ₩280,000 / 전기 ₩310,000)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고용노동부 근로기준법: 1일 8시간(투입률 100%) 원칙, 140% 초과 집중투입 전액 삭감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조달청 나라장터 (G2B): 공공 표준시장단가 대비 ±10% 이내 적정가 형성 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91640"/>
            <a:ext cx="5212080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Malgun Gothic"/>
              </a:defRPr>
            </a:pPr>
            <a:r>
              <a:t>🚦 신호등 감리 리포트 활용 요령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  <a:latin typeface="Malgun Gothic"/>
              </a:defRPr>
            </a:pPr>
            <a:r>
              <a:t>• 🔴 반려 반영 (Critical)</a:t>
            </a:r>
            <a:br/>
            <a:r>
              <a:t>  광고주가 거부한 내역이 견적서에 반영됨 -&gt; 삭감 요구액에 전액 합산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  <a:latin typeface="Malgun Gothic"/>
              </a:defRPr>
            </a:pPr>
            <a:r>
              <a:t>• 🔴 승인 미확인 (High Risk)</a:t>
            </a:r>
            <a:br/>
            <a:r>
              <a:t>  사전 서면 승인(CR) 없이 임의로 추가된 증액 비목 -&gt; 결재 보류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🟡 확인 필요 (Warning)</a:t>
            </a:r>
            <a:br/>
            <a:r>
              <a:t>  단가 인상률이 8%를 초과하거나 수량이 급증한 항목 -&gt; 사양 소명서 징구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🟢 적정 (Pass)</a:t>
            </a:r>
            <a:br/>
            <a:r>
              <a:t>  기준 견적 단가와 일치하거나 공공 고시 단가 범위 내 적정 비목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📥 공식 감리 진단서 다운로드</a:t>
            </a:r>
            <a:br/>
            <a:r>
              <a:t>  하단의 [공문형 정식 감리 진단서 생성하기] 버튼으로 즉시 공문 마크다운 파일 저장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Chapter 3. 사용방법 (Step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비전 AI 이미지 예상견적 산출기 활용법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견적서가 없는 초기 기획 단계에서도 시안 이미지 1장으로 5대 공종 원가를 자동 산출합니다.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Malgun Gothic"/>
              </a:defRPr>
            </a:pPr>
            <a:r>
              <a:t>📷 1. 시안 이미지 업로드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드래그 앤 드롭 1초 로딩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사이드바에서 [📷 비전 AI 이미지 예상견적 산출기] 모드를 선택합니다.</a:t>
            </a:r>
            <a:br/>
            <a:r>
              <a:t>• 3D 렌더링 컷, 목업 스케치, 시공 실물 사진을 업로드합니다.</a:t>
            </a:r>
            <a:br/>
            <a:r>
              <a:t>• Vision AI가 가로/세로/높이 규격과 주요 재질(갈바, 아크릴, 목재, LED 등)을 자동 추출합니다.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Malgun Gothic"/>
              </a:defRPr>
            </a:pPr>
            <a:r>
              <a:t>⚙️ 2. 5대 공종 원가 자동 분해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공학적 원가 산출 엔진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1) 자재비: 판재, 파이프, 조명 등 원자재 소요량 산출</a:t>
            </a:r>
            <a:br/>
            <a:r>
              <a:t>• 2) 가공비: 레이저 커팅, CNC, 밴딩 가공비 산출</a:t>
            </a:r>
            <a:br/>
            <a:r>
              <a:t>• 3) 조립공임: 숙련공 노임단가 기준 공수 산출</a:t>
            </a:r>
            <a:br/>
            <a:r>
              <a:t>• 4) 도장마감: 분체/우레탄 도장 면적당 단가 산출</a:t>
            </a:r>
            <a:br/>
            <a:r>
              <a:t>• 5) 포장/부자재: 완충재 및 운송비 산출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4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Malgun Gothic"/>
              </a:defRPr>
            </a:pPr>
            <a:r>
              <a:t>📊 3. 3대 시나리오 &amp; 엑셀 다운로드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최저가 / 표준가 / 프리미엄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제작 여건에 따라 최저가/표준가/프리미엄 3단계 단가를 비교 제시합니다.</a:t>
            </a:r>
            <a:br/>
            <a:r>
              <a:t>• [📥 공학적 표준 견적서 (.xlsx) 다운로드] 버튼을 누르면 실무 계약용 엑셀 견적서가 즉시 생성되어 저장됩니다.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Chapter 3. 사용방법 (Step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25.6억 실물키트 DB 검색 및 광고주 소명서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과거 실제 계약 데이터를 기반으로 신규 견적을 벤치마킹하고, 광고주 질의에 1초 만에 답변합니다.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Malgun Gothic"/>
              </a:defRPr>
            </a:pPr>
            <a:r>
              <a:t>🧠 25.6억 원 44종 실물 키트 DB 활용법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1. [과거 실적 학습 스튜디오] 탭으로 이동합니다.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2. 검색창에 키트명('교자상', '암실', 'CXP', '모뉴먼트' 등)을 입력합니다.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3. S26 Miracle 21종, Foldable 19종, Heritage 4종의 실제 계약 금액과 시제품/양산 원가가 즉시 도출됩니다.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4. 43종 실제 고화질 키트 사진이 함께 표시되어 신규 제작 집기와 외형 및 구조를 1:1로 비교 검증할 수 있습니다.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5. CBR 유사도 매칭으로 신규 견적의 오차율(±3.2% 이내)을 실시간 검증합니다.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91640"/>
            <a:ext cx="5212080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Malgun Gothic"/>
              </a:defRPr>
            </a:pPr>
            <a:r>
              <a:t>💬 광고주 질의 대응 1초 소명서 생성법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1. [광고주 질의 대응 (소명서 생성)] 탭으로 이동합니다.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2. 빈출 질문 드롭다운에서 광고주가 제기한 질의를 선택합니다:</a:t>
            </a:r>
            <a:br/>
            <a:r>
              <a:t>   • '단가가 왜 이렇게 급등했나요?'</a:t>
            </a:r>
            <a:br/>
            <a:r>
              <a:t>   • '디자인 인건비가 비싼 법적 근거는?'</a:t>
            </a:r>
            <a:br/>
            <a:r>
              <a:t>   • '야간 작업 할증이 붙은 구체적 사유는?'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3. 공공기관 고시 기준 및 법령에 근거한 정식 소명 답변서가 1초 만에 자동 생성됩니다.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4. [결과 복사하기] 버튼을 누르면 카카오톡, 사내 메신저, 이메일에 바로 붙여넣어 전송할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Chapter 4. 입력 예시 (Input Samples)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표준 입력 견적서 및 시안 이미지 예시 규격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정확한 감리 및 산출을 위해 지원되는 엑셀 서식 구조와 이미지 입력 가이드라인입니다.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  <a:latin typeface="Malgun Gothic"/>
              </a:defRPr>
            </a:pPr>
            <a:r>
              <a:t>📊 입력 예시 1: 엑셀 견적서 (.xlsx)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권장 시트 구성:</a:t>
            </a:r>
            <a:br/>
            <a:r>
              <a:t>  - [견적서 시트]: 구분, 품명(항목명), 규격, 수량, 단위, 단가, 금액, 비고</a:t>
            </a:r>
            <a:br/>
            <a:r>
              <a:t>  - [노무비 시트]: 공정, 역할, 인원, 일수, 일단가, 금액</a:t>
            </a:r>
            <a:br/>
            <a:br/>
            <a:r>
              <a:t>• 컬럼명 유연성:</a:t>
            </a:r>
            <a:br/>
            <a:r>
              <a:t>  - 컬럼명이 '수량' 대신 'QTY', '단가' 대신 '단위당금액'이어도 자동 매핑</a:t>
            </a:r>
            <a:br/>
            <a:br/>
            <a:r>
              <a:t>• 입력 엑셀 예시 데이터:</a:t>
            </a:r>
            <a:br/>
            <a:r>
              <a:t>  [구분: 제작 | 품명: 특수 아크릴 전시대 | 수량: 10개 | 단가: ₩120,000 | 금액: ₩1,200,000]</a:t>
            </a:r>
            <a:br/>
            <a:r>
              <a:t>  [구분: 인건비 | 역할: 목공 숙련공 | 인원: 2명 | 일수: 1일 | 단가: ₩280,000 | 금액: ₩560,000]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91640"/>
            <a:ext cx="5212080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Malgun Gothic"/>
              </a:defRPr>
            </a:pPr>
            <a:r>
              <a:t>📷 입력 예시 2: 비전 AI 시안 이미지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지원 파일 형식: PNG, JPG, JPEG, WEBP</a:t>
            </a:r>
            <a:br/>
            <a:br/>
            <a:r>
              <a:t>• 권장 시안 형태:</a:t>
            </a:r>
            <a:br/>
            <a:r>
              <a:t>  - 3D Rhino/3ds Max 렌더링 투시도</a:t>
            </a:r>
            <a:br/>
            <a:r>
              <a:t>  - 정면/측면/평면이 확인 가능한 목업 스케치</a:t>
            </a:r>
            <a:br/>
            <a:r>
              <a:t>  - 과거 유사 시공 현장 실물 사진</a:t>
            </a:r>
            <a:br/>
            <a:br/>
            <a:r>
              <a:t>• AI 자동 인식 추출 항목:</a:t>
            </a:r>
            <a:br/>
            <a:r>
              <a:t>  - 1) 외형 치수: 가로(W) × 세로(D) × 높이(H) 자동 추정</a:t>
            </a:r>
            <a:br/>
            <a:r>
              <a:t>  - 2) 외장 소재: 갈바 스틸, 아크릴, 원목 MDF, 강화유리 등</a:t>
            </a:r>
            <a:br/>
            <a:r>
              <a:t>  - 3) 특수 가공: 분체 도장, 레이저 타공, LED 조명 매립 유무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Chapter 4. 출력 예시 (Output Samples)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산출물 유형 및 결과물 활용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원클릭으로 생성되는 종합소견서, 공문 진단서, 산출 엑셀 견적서 등 실무 보고용 산출물입니다.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Malgun Gothic"/>
              </a:defRPr>
            </a:pPr>
            <a:r>
              <a:t>📋 1. 견적감독관 종합소견서 전문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클립보드 복사 &amp; .md 다운로드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[소견서 발신]: 제일기획 AX 견적감독관</a:t>
            </a:r>
            <a:br/>
            <a:r>
              <a:t>• [종합 판정]: 🔴 고위험 (재협상 및 삭감 필수)</a:t>
            </a:r>
            <a:br/>
            <a:r>
              <a:t>• [삭감 타겟]: ₩5,720,000 감액 청구 권고</a:t>
            </a:r>
            <a:br/>
            <a:r>
              <a:t>• [최종 예산]: ₩52,480,000 합의선 제시</a:t>
            </a:r>
            <a:br/>
            <a:r>
              <a:t>• [4대 총평]: 단가/투입률/제작비/승인절차 소견 완비</a:t>
            </a:r>
            <a:br/>
            <a:r>
              <a:t>👉 사내 결재문서 및 경영진 보고서에 1초 만에 복사하여 붙여넣기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Malgun Gothic"/>
              </a:defRPr>
            </a:pPr>
            <a:r>
              <a:t>📑 2. 공문형 공식 감리 진단서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협력사 통보 및 공문서 발송용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마크다운(.md) 형식으로 저장되는 표준 감리 보고서</a:t>
            </a:r>
            <a:br/>
            <a:r>
              <a:t>• 비적합 비목별 위반 법령 및 공공 품셈 조항 명시</a:t>
            </a:r>
            <a:br/>
            <a:r>
              <a:t>• 한국물가협회, 조달청, 근로기준법 조항 인용</a:t>
            </a:r>
            <a:br/>
            <a:r>
              <a:t>• 협력사에 공식 시정명령 및 소명 요구서로 송부하여 원가 삭감의 법적·논리적 근거로 활용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4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Malgun Gothic"/>
              </a:defRPr>
            </a:pPr>
            <a:r>
              <a:t>📊 3. 공학적 표준 견적서 (.xlsx)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비전 AI가 산출한 정밀 엑셀 견적서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시안에서 추출한 5대 공종 원가가 수식과 함께 내재화된 엑셀 파일 자동 다운로드</a:t>
            </a:r>
            <a:br/>
            <a:r>
              <a:t>• 자재비, 가공비, 조립공임, 도장마감, 포장비 분해</a:t>
            </a:r>
            <a:br/>
            <a:r>
              <a:t>• 최저가/표준가/프리미엄 3대 시나리오 탭 수록</a:t>
            </a:r>
            <a:br/>
            <a:r>
              <a:t>• 광고주 보고 및 제작처 발주 표준 견적서로 즉시 사용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Chapter 5. 한계 및 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시스템 한계 및 업무 활용 시 필수 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안전하고 신뢰도 높은 의사결정을 위해 AI 시스템의 한계점과 필수 검토 수칙을 숙지하시기 바랍니다.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21488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9834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Malgun Gothic"/>
              </a:defRPr>
            </a:pPr>
            <a:r>
              <a:t>⚠️ 1. 비전 AI 시각적 한계치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내부 특수 전장/기계 장치</a:t>
            </a:r>
          </a:p>
          <a:p>
            <a:pPr>
              <a:spcBef>
                <a:spcPts val="500"/>
              </a:spcBef>
              <a:defRPr sz="900">
                <a:solidFill>
                  <a:srgbClr val="CBD5E1"/>
                </a:solidFill>
                <a:latin typeface="Malgun Gothic"/>
              </a:defRPr>
            </a:pPr>
            <a:r>
              <a:t>• 시안 이미지는 '외형'을 기반으로 재질과 공종을 역설계하므로, 제품 내부에 매립된 특수 복합 센서, 키오스크 PC, 특수 구동 모터 등은 추가 설계 검토가 필요합니다.</a:t>
            </a:r>
            <a:br/>
            <a:r>
              <a:t>• 복합 키트의 경우 반드시 25.6억 실물 키트 DB와의 교차 검증을 병행하십시오.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257800" cy="21488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834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Malgun Gothic"/>
              </a:defRPr>
            </a:pPr>
            <a:r>
              <a:t>⚠️ 2. 비정형 서식 및 수기 인식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스캔 이미지 견적서 주의</a:t>
            </a:r>
          </a:p>
          <a:p>
            <a:pPr>
              <a:spcBef>
                <a:spcPts val="500"/>
              </a:spcBef>
              <a:defRPr sz="900">
                <a:solidFill>
                  <a:srgbClr val="CBD5E1"/>
                </a:solidFill>
                <a:latin typeface="Malgun Gothic"/>
              </a:defRPr>
            </a:pPr>
            <a:r>
              <a:t>• 인쇄된 견적서를 사진으로 찍거나 손글씨로 작성된 스캔 PDF/이미지는 OCR 인식률이 저하될 수 있습니다.</a:t>
            </a:r>
            <a:br/>
            <a:r>
              <a:t>• 정확한 원가 산출을 위해 협력사로부터 가급적 디지털 원본 엑셀(.xlsx) 파일을 수령하여 업로드하십시오.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57800" cy="21488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49834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Malgun Gothic"/>
              </a:defRPr>
            </a:pPr>
            <a:r>
              <a:t>⚠️ 3. 삭감 타겟액의 성격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법적 강제가 아닌 협상 마지노선</a:t>
            </a:r>
          </a:p>
          <a:p>
            <a:pPr>
              <a:spcBef>
                <a:spcPts val="500"/>
              </a:spcBef>
              <a:defRPr sz="900">
                <a:solidFill>
                  <a:srgbClr val="CBD5E1"/>
                </a:solidFill>
                <a:latin typeface="Malgun Gothic"/>
              </a:defRPr>
            </a:pPr>
            <a:r>
              <a:t>• 시스템이 제시하는 '부적정 삭감 타겟액'은 공공 고시 기준 및 계약 원칙에 기반한 '합리적 네고 가이드라인'입니다.</a:t>
            </a:r>
            <a:br/>
            <a:r>
              <a:t>• 현장 특수성이나 납기 긴급성에 따른 할증은 광고주/협력사 간 서면 합의(CR)를 통해 조건부 인정될 수 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39"/>
            <a:ext cx="5257800" cy="214884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114800"/>
            <a:ext cx="49834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Malgun Gothic"/>
              </a:defRPr>
            </a:pPr>
            <a:r>
              <a:t>⚠️ 4. 대외비 및 보안 준수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사내 정보보호 규정 준수</a:t>
            </a:r>
          </a:p>
          <a:p>
            <a:pPr>
              <a:spcBef>
                <a:spcPts val="500"/>
              </a:spcBef>
              <a:defRPr sz="900">
                <a:solidFill>
                  <a:srgbClr val="CBD5E1"/>
                </a:solidFill>
                <a:latin typeface="Malgun Gothic"/>
              </a:defRPr>
            </a:pPr>
            <a:r>
              <a:t>• 본 시스템은 SSL 보안 전송 및 인메모리 연산을 적용하여 안전하나, 미출시 신제품이나 특급 보안 프로젝트 이미지를 업로드할 때는 사내 정보보안 가이드라인을 엄격히 준수하십시오.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Chapter 6. 문의처 및 기술지원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전담 지원 조직 및 기술 문의 채널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서비스 사용 중 기능 개선 제안, 엑셀 파싱 오류 문의, 긴급 장애 신고는 전담 채널로 연락해 주십시오.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Malgun Gothic"/>
              </a:defRPr>
            </a:pPr>
            <a:r>
              <a:t>🏢 1. 총괄 운영 부서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제일기획 AX 혁신추진팀 (AI Transformation Office)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업무 총괄: 2026 AX 경진대회 TFT</a:t>
            </a:r>
            <a:br/>
            <a:r>
              <a:t>• 업무 시간: 평일 09:00 ~ 18:00 (점심시간 12:00 ~ 13:00)</a:t>
            </a:r>
            <a:br/>
            <a:r>
              <a:t>• 주요 역할: 신규 공공 기준 데이터 업데이트, 감리 정책 가이드라인 수립, 전사 라이선스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Malgun Gothic"/>
              </a:defRPr>
            </a:pPr>
            <a:r>
              <a:t>✉️ 2. 기술 문의 및 데스크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이메일 &amp; 사내 메신저 채널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공식 문의 이메일: ax-estimate-support@cheil.com</a:t>
            </a:r>
            <a:br/>
            <a:r>
              <a:t>• 사내 메신저: #ax-견적감리관-지원 채널</a:t>
            </a:r>
            <a:br/>
            <a:r>
              <a:t>• 처리 기준: 일반 문의 2시간 이내 회신, 엑셀 파서 오류 4시간 이내 패치 배포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91640"/>
            <a:ext cx="3456432" cy="4572000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4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Malgun Gothic"/>
              </a:defRPr>
            </a:pPr>
            <a:r>
              <a:t>🚨 3. 긴급 핫라인 &amp; 저장소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24/7 시스템 모니터링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서버 긴급 관제 핫라인: 사내 내선 8080 (비상 관제 센터)</a:t>
            </a:r>
            <a:br/>
            <a:r>
              <a:t>• GitHub 이슈 트래커:</a:t>
            </a:r>
            <a:br/>
            <a:r>
              <a:t>  https://github.com/designer01jsw-commits/ax-estimate-supervisor/issues</a:t>
            </a:r>
            <a:br/>
            <a:r>
              <a:t>• 시스템 상태 페이지: https://ax-estimate-supervisor.onrender.com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FAQ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자주 묻는 질문(FAQ) 핵심 정리 5選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실제 현업 담당자들이 가장 자주 묻는 질문 5가지를 일문일답으로 명쾌하게 정리했습니다.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841248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Q1. 사용자 컴퓨터나 노트북 전원을 끄면 웹 도메인 접속이 끊기나요?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아닙니다! Render 글로벌 상용 클라우드에 365일 24시간 무중단 가동되므로 본인 PC 전원이 꺼져 있어도 언제나 전 세계 어디서나 정상 접속됩니다.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24328"/>
            <a:ext cx="10728655" cy="841248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Q2. 엑셀 견적서 서식이나 컬럼명이 표준과 달라도 오류 없이 인식되나요?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네! 내장된 지능형 유연 파서가 컬럼명 변형('단가', '단위당금액', '합계' 등)을 99.2% 자동으로 감지하여 정규화하므로 파일 수정 없이 그대로 올리시면 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57016"/>
            <a:ext cx="10728655" cy="841248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30168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Q3. 스마트폰이나 외부 네트워크(외근/출장)에서도 접속할 수 있나요?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네! 100% 완벽히 지원됩니다. 반응형 모바일 UI가 적용되어 있어 외근 중이나 협력사 미팅 중에도 스마트폰으로 접속하여 즉시 견적 감리 결과를 조회할 수 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9704"/>
            <a:ext cx="10728655" cy="841248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62856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Q4. 견적서 파일 보안은 안전하게 보호되나요?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안전합니다. 업로드된 파일은 메모리 상에서만 즉시 연산 및 대조 처리되며 외부 서버에 무단 저장되지 않고 256-bit SSL 암호화 터널을 통해 안전하게 전송됩니다.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22392"/>
            <a:ext cx="10728655" cy="841248"/>
          </a:xfrm>
          <a:prstGeom prst="roundRect">
            <a:avLst/>
          </a:prstGeom>
          <a:solidFill>
            <a:srgbClr val="132240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95544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Q5. 산출된 감사 리포트나 견적서는 어떤 형식으로 저장할 수 있나요?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공식 감리 진단서 마크다운(.md), 결재용 텍스트 전문(클립보드 복사), 비전 AI 공학적 견적서 엑셀(.xlsx), 원본 대조 CSV 등 다양한 형태로 1초 만에 저장됩니다.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Malgun Gothic"/>
              </a:defRPr>
            </a:pPr>
            <a:r>
              <a:t>★ 1-Page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업무 책상 부착용 1-Page 퀵 레퍼런스 시트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실제 실무 진행 시 옆에 두고 바로 찾아보는 3단계 초간단 감리 프로세스 요약표입니다.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56432" cy="4572000"/>
          </a:xfrm>
          <a:prstGeom prst="roundRect">
            <a:avLst/>
          </a:prstGeom>
          <a:solidFill>
            <a:srgbClr val="132240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  <a:latin typeface="Malgun Gothic"/>
              </a:defRPr>
            </a:pPr>
            <a:r>
              <a:t>STEP 1. 접속 및 불러오기 (30초)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도메인 접속 및 파일 탑재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1. https://ax-estimate-supervisor.onrender.com 접속</a:t>
            </a:r>
            <a:br/>
            <a:r>
              <a:t>2. 사이드바에서 프로젝트 선택 또는 내 엑셀 파일 업로드</a:t>
            </a:r>
            <a:br/>
            <a:r>
              <a:t>3. 최초 견적서와 변경 견적서 자동 대조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56432" cy="4572000"/>
          </a:xfrm>
          <a:prstGeom prst="roundRect">
            <a:avLst/>
          </a:prstGeom>
          <a:solidFill>
            <a:srgbClr val="13224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Malgun Gothic"/>
              </a:defRPr>
            </a:pPr>
            <a:r>
              <a:t>STEP 2. 종합진단 &amp; 삭감액 확인 (1분)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견적감독관 종합진단실 검토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1. 상단 종합의견 란에서 [🔴/🟡/🟢] 리스크 등급 확인</a:t>
            </a:r>
            <a:br/>
            <a:r>
              <a:t>2. '부적정 삭감 타겟액' 및 4대 공종별 총평 파악</a:t>
            </a:r>
            <a:br/>
            <a:r>
              <a:t>3. 감독관 3대 액션 가이드라인(즉시 삭감, 증빙 징구, 네고선)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91640"/>
            <a:ext cx="3456432" cy="4572000"/>
          </a:xfrm>
          <a:prstGeom prst="roundRect">
            <a:avLst/>
          </a:prstGeom>
          <a:solidFill>
            <a:srgbClr val="13224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4" y="1828800"/>
            <a:ext cx="31821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Malgun Gothic"/>
              </a:defRPr>
            </a:pPr>
            <a:r>
              <a:t>STEP 3. 리포트 발행 &amp; 협상 (1분)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소견서 복사 및 협력사 통보</a:t>
            </a:r>
          </a:p>
          <a:p>
            <a:pPr>
              <a:spcBef>
                <a:spcPts val="10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1. [결재용 소견서 전문] 원클릭 복사하여 사내 결재문서 첨부</a:t>
            </a:r>
            <a:br/>
            <a:r>
              <a:t>2. [공문형 감리 진단서] 다운로드하여 협력사에 감액 통보 송부</a:t>
            </a:r>
            <a:br/>
            <a:r>
              <a:t>3. 필요 시 [비전 AI] 및 [25.6억 키트 DB] 교차 벤치마킹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