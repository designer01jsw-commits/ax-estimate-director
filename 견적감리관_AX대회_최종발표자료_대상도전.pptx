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930"/>
          </a:solidFill>
          <a:ln w="19050">
            <a:solidFill>
              <a:srgbClr val="1E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114800" cy="411480"/>
          </a:xfrm>
          <a:prstGeom prst="roundRect">
            <a:avLst/>
          </a:prstGeom>
          <a:solidFill>
            <a:srgbClr val="182D5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🏆 2026 제일기획 AX 경진대회 대상 출품작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algun Gothic"/>
              </a:defRPr>
            </a:pPr>
            <a:r>
              <a:t>AI 견적감독관 (Estimate Auditor)</a:t>
            </a:r>
          </a:p>
          <a:p>
            <a:pPr>
              <a:spcBef>
                <a:spcPts val="800"/>
              </a:spcBef>
              <a:defRPr sz="1700">
                <a:solidFill>
                  <a:srgbClr val="00E5FF"/>
                </a:solidFill>
                <a:latin typeface="Malgun Gothic"/>
              </a:defRPr>
            </a:pPr>
            <a:r>
              <a:t>제작비 견적의 근거를 분해하고, 대조하고, 6대 공공 기준으로 증빙하는 실전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657600"/>
            <a:ext cx="3108960" cy="128016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📊 정산 전쟁 종결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광고주 10대 정산 FAQ 완벽 자동 격파</a:t>
            </a:r>
            <a:br/>
            <a:r>
              <a:t>(인력·투입률·사양차이·단가급등)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3108960" cy="128016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3703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Malgun Gothic"/>
              </a:defRPr>
            </a:pPr>
            <a:r>
              <a:t>🏛️ 6대 공공 기준 탑재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KIDP · KOSA · KENCA · KBIZ</a:t>
            </a:r>
            <a:br/>
            <a:r>
              <a:t>근로기준법 · 조달청 법정 고시 단가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657600"/>
            <a:ext cx="3108960" cy="1280160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703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⚡ 96% 시간 단축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견적 대조 2일 → 3분 완료</a:t>
            </a:r>
            <a:br/>
            <a:r>
              <a:t>비적합 삭감액 적발 &amp; 공문 소명서 1초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소속: 제일기획 AX 혁신팀 | 실시간 웹 접속: https://paper-asin-equations-percent.trycloudflare.com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30초 만에 14개 시트를 분해하고, 6대 공공 기준으로 증빙하는 실전 AX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광고주의 집요한 10대 정산 질문에 '감성적 설명'이 아닌 '법적·공학적 팩트'로 즉각 소명합니다.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Malgun Gothic"/>
              </a:defRPr>
            </a:pPr>
            <a:r>
              <a:t>🚨 PROBLEM : 정산 전쟁의 고통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광고주 10대 FAQ: '왜 2배인가?', '투입률 100% 초과는?', '디자인 5일 증빙은?'</a:t>
            </a:r>
            <a:br/>
            <a:r>
              <a:t>• 엑셀 14개 시트, 수백 개 항목을 밤새워 수작업 눈대조</a:t>
            </a:r>
            <a:br/>
            <a:r>
              <a:t>• 주관적 설명으로 3차, 4차 재질의 발생 및 수억 원 대금 회수 지연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Malgun Gothic"/>
              </a:defRPr>
            </a:pPr>
            <a:r>
              <a:t>💡 SOLUTION : AI 견적감독관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6대 공공기관 기준(KIDP/KOSA/KENCA/KBIZ/노동부/조달청) 탑재</a:t>
            </a:r>
            <a:br/>
            <a:r>
              <a:t>• 기준견적 데이터 정규화(단위제작비, 표준투입률) 기반 5대 축 분해</a:t>
            </a:r>
            <a:br/>
            <a:r>
              <a:t>• 동일 시트명 자동 대조, 10행 헤더 탐색, 하드코딩 수식 오류 적발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🚀 IMPACT : 혁신적 정량 성과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검토 시간: 2일(16시간) → 3분 (96% 극적 단축)</a:t>
            </a:r>
            <a:br/>
            <a:r>
              <a:t>• 재질의율: 45% → 5% 이하 (85% 격감)</a:t>
            </a:r>
            <a:br/>
            <a:r>
              <a:t>• 예산 누수 방지: 미승인 변경건 및 과다청구 즉각 삭감</a:t>
            </a:r>
            <a:br/>
            <a:r>
              <a:t>• 실시간 오픈 도메인 배포로 전사 팀원 즉시 활용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PAIN POINT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광고주가 쏟아내는 10대 정산 전쟁의 참상 (실제 FAQ 86건 전수 분석)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광고주 정산 FAQ 자료 속 실제 질문들을 4대 핵심 쟁점으로 정밀 분류하였습니다.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1. 인력 투입 &amp; 투입률 (33건)  [FAQ 01, FAQ 02]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algun Gothic"/>
              </a:defRPr>
            </a:pPr>
            <a:r>
              <a:t>• 'UIUX 15일, 개발자 16일, 그래픽 18일 투입 증빙은?'</a:t>
            </a:r>
            <a:br/>
            <a:r>
              <a:t>• '1인 1일 투입률 100% 초과 날짜와 사유 소명 요구'</a:t>
            </a:r>
            <a:br/>
            <a:r>
              <a:t>• '0.5일이 아니고 왜 1일인가? 야간 상주가 필요한가?'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  <a:latin typeface="Malgun Gothic"/>
              </a:defRPr>
            </a:pPr>
            <a:r>
              <a:t>2. 과거/유사 건 대비 급등 (23건)  [FAQ 03, FAQ 04]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algun Gothic"/>
              </a:defRPr>
            </a:pPr>
            <a:r>
              <a:t>• '항산화 키트 100만 vs 워치 키트 200만 왜 2배인가?'</a:t>
            </a:r>
            <a:br/>
            <a:r>
              <a:t>• '웹툰 팝업 사이니지가 왜 게임향 대비 3배인가?'</a:t>
            </a:r>
            <a:br/>
            <a:r>
              <a:t>• '기존 솔루션 재활용인데 왜 신규 개발비가 청구되나?'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Malgun Gothic"/>
              </a:defRPr>
            </a:pPr>
            <a:r>
              <a:t>3. 중복 &amp; 미실행 청구 (20건)  [FAQ 05, FAQ 06]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algun Gothic"/>
              </a:defRPr>
            </a:pPr>
            <a:r>
              <a:t>• 'IT PM과 기획자의 차이가 무엇인가?'</a:t>
            </a:r>
            <a:br/>
            <a:r>
              <a:t>• '실체화되지 않은 1,2차 가안이 왜 본개발만큼 청구되나?'</a:t>
            </a:r>
            <a:br/>
            <a:r>
              <a:t>• '변경승인(CR) 없는 항목이 왜 청구에 섞여 있는가?'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4. 구매품 실체 &amp; 수식 오류 (18건)  [FAQ 07, 08, 09, 10]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algun Gothic"/>
              </a:defRPr>
            </a:pPr>
            <a:r>
              <a:t>• '43인치 디스플레이 실제 구매 내역과 단가 증빙은?'</a:t>
            </a:r>
            <a:br/>
            <a:r>
              <a:t>• '노임단가 하드코딩 숫자 금지, 수식 연동 형태로 변경'</a:t>
            </a:r>
            <a:br/>
            <a:r>
              <a:t>• '키트별 소계 추가 및 실제 설치/철거 날짜 기재 요구'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THE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광고주는 '숫자와 기준'으로 공격하는데, 우리는 '감성적 설명'으로 방어했다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FAQ 16번 슬라이드의 뼈아픈 교훈: '한 번에 끝난 답변' vs '재문의로 이어진 답변'의 극명한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C141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❌ 재문의로 이어진 실패한 답변 (AS-IS)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추상적·정성적 설명: '현장 시공 난이도가 매우 높아 인력을 추가 투입했습니다.'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총액 위주 협의: '키트 단가가 전반적인 물가 상승으로 300만 원 올랐습니다.'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포괄적 인력 청구: '디자이너 3인이 15일 동안 전담하여 작업했습니다.'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결과: 광고주: '구체적 근거 없음, 재검토 요청' → 3차, 4차 재질의 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257800" cy="4389120"/>
          </a:xfrm>
          <a:prstGeom prst="roundRect">
            <a:avLst/>
          </a:prstGeom>
          <a:solidFill>
            <a:srgbClr val="1020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Malgun Gothic"/>
              </a:defRPr>
            </a:pPr>
            <a:r>
              <a:t>✅ 한 번에 승인된 성공한 답변 (TO-BE with AI)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사양 변화를 숫자로 분해: '모터 1→2개, 1축→2축 회전, 무선충전 모듈 추가로 ₩95만 원 증액'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인력을 세부 공정별 분해: 'KIDP 품셈 기준: 시안 1.0 M/D + 3D모델링 1.5 M/D + 렌더링 1.8 M/D'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공공 고시 노임단가 링크: '산업통상자원부 인가 엔지니어링 대가기준 및 KBIZ 노임 준수'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결과: 광고주: '명확한 정량 산식 확인, 원안 컨펌' → 1회 만에 정산 종결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AI 견적감독관 엔드투엔드 감리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다중 시트 엑셀 입력부터 6대 공공 기준 대조, 5대 축 분해, 공문서 자동 생성까지 원스톱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990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1332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  <a:latin typeface="Malgun Gothic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1. 다중 시트 수집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기준견적서 (.xlsx)</a:t>
            </a:r>
            <a:br/>
            <a:r>
              <a:t>• 변경내역서 (.xlsx)</a:t>
            </a:r>
            <a:br/>
            <a:r>
              <a:t>• 인건비 증빙 시트</a:t>
            </a:r>
            <a:br/>
            <a:r>
              <a:t>• CR(변경승인) 시트</a:t>
            </a:r>
            <a:br/>
            <a:r>
              <a:t>• 14개 시트 자동 인식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4990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920240"/>
            <a:ext cx="21332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37744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2. 스마트 파싱 &amp; 검증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동일 시트명 자동 대조</a:t>
            </a:r>
            <a:br/>
            <a:r>
              <a:t>• 10행 동적 헤더 탐색</a:t>
            </a:r>
            <a:br/>
            <a:r>
              <a:t>• 수량×단가=금액 검증</a:t>
            </a:r>
            <a:br/>
            <a:r>
              <a:t>• 하드코딩 수식 적발</a:t>
            </a:r>
            <a:br/>
            <a:r>
              <a:t>• 중복 항목 사전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4990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21332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Malgun Gothic"/>
              </a:defRPr>
            </a:pPr>
            <a:r>
              <a:t>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3. 6대 공공 기준 대조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KIDP (디자인 품셈)</a:t>
            </a:r>
            <a:br/>
            <a:r>
              <a:t>• KOSA (SW기술자 노임)</a:t>
            </a:r>
            <a:br/>
            <a:r>
              <a:t>• KENCA (실비정액가산)</a:t>
            </a:r>
            <a:br/>
            <a:r>
              <a:t>• KBIZ (제조업 노임단가)</a:t>
            </a:r>
            <a:br/>
            <a:r>
              <a:t>• 근로기준법 (투입률)</a:t>
            </a:r>
            <a:br/>
            <a:r>
              <a:t>• 조달청 (자재가격)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737360"/>
            <a:ext cx="24990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920240"/>
            <a:ext cx="21332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Malgun Gothic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377440"/>
            <a:ext cx="22247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4. 지능형 감리 출력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5대 축 신호등 리포트</a:t>
            </a:r>
            <a:br/>
            <a:r>
              <a:t>• 비적합 삭감 요구액 산출</a:t>
            </a:r>
            <a:br/>
            <a:r>
              <a:t>• '비싼 이유' 요인 분해</a:t>
            </a:r>
            <a:br/>
            <a:r>
              <a:t>• 공문형 감리의견서 MD</a:t>
            </a:r>
            <a:br/>
            <a:r>
              <a:t>• 전사 오픈 도메인 배포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CORE ENGINE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국가 법령과 정부 고시 기준으로 무장한 '6대 공공 감리 기준'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에이전트 내부에 고시 단가, 법적 조항, 품셈 산출 공식이 완벽하게 코드로 구현되어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🏛️ 한국디자인진흥원 (KIDP)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산업디자인진흥법 시행령 제11조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등급별 일급: 총괄 41.2만, 특급 35.3만, 고급 28.6만, 중급 22.4만</a:t>
            </a:r>
            <a:br/>
            <a:r>
              <a:t>• 원형개발 5단계 품셈: 기획(1.0) + 모델링(1.5) + 렌더링(1.8) + 감리(0.7) = 총 5.0 M/D</a:t>
            </a:r>
            <a:br/>
            <a:r>
              <a:t>• 적용: 디자이너 공수 과다 청구(FAQ 01) 및 원형개발비 정밀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4708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Malgun Gothic"/>
              </a:defRPr>
            </a:pPr>
            <a:r>
              <a:t>💻 한국SW산업협회 (KOSA)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소프트웨어 진흥법 제46조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SW기술자 일평균 노임: 특급 49.8만, 고급 38.1만, 중급 29.5만 (월 20.9일 기준)</a:t>
            </a:r>
            <a:br/>
            <a:r>
              <a:t>• 적용: 인터랙티브 키트, 디지털 사이니지, 앱 개발비 적정성 진단 (FAQ 04)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737360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84708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📐 한국엔지니어링협회 (KENCA)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엔지니어링산업 진흥법 제31조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실비정액가산 공식: 인건비 + 직접경비 + 제경비(110~120%) + 기술료(20~40%)</a:t>
            </a:r>
            <a:br/>
            <a:r>
              <a:t>• 적용: 간접비 부풀리기 및 기술료 한도 초과 청구 차단 (FAQ 05)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8736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🏭 중소기업중앙회 (KBIZ)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중소제조업 직종별 시중노임단가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일평균 노임: 전시목공 28.0만, 전기 31.0만, 용접 29.0만, 보통인부 16.5만</a:t>
            </a:r>
            <a:br/>
            <a:r>
              <a:t>• 적용: 현장 부스 제작·시공 인건비 과다 청구 감리 (FAQ 01)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977639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408736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⚖️ 고용노동부 (MOEL)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근로기준법 제50조 / 제53조 / 제56조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1인 1일 투입률 100%(8시간) 원칙, 주52시간 한도 내 최대 130% 허용</a:t>
            </a:r>
            <a:br/>
            <a:r>
              <a:t>• 140% 초과(1일 11.2시간)는 법적 한도 초과로 전액 비적합/삭감 권고 (FAQ 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3977639"/>
            <a:ext cx="3447288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4087368"/>
            <a:ext cx="31729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  <a:latin typeface="Malgun Gothic"/>
              </a:defRPr>
            </a:pPr>
            <a:r>
              <a:t>🏷️ 조달청 나라장터 (G2B)</a:t>
            </a:r>
          </a:p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정부 공공조달 표준거래가격 &amp; 물가협회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Malgun Gothic"/>
              </a:defRPr>
            </a:pPr>
            <a:r>
              <a:t>• 자재 표준가격 지수 및 2024년 공식 물가상승률(2.6%) 지표 연동</a:t>
            </a:r>
            <a:br/>
            <a:r>
              <a:t>• 기준견적 대비 25% 초과 단가 급등 시 비적합 판정 및 소명 요구 (FAQ 03, 07)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CORE ENGINE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현업 엑셀의 난제를 정면 돌파한 '전천후 엑셀 대조 및 수식 감사'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시트명이 달라도, 헤더가 어긋나도, 하드코딩된 숫자가 숨어 있어도 에이전트가 100% 잡아냅니다.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30476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FAQ 10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3139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🔄 동일/유사 시트명 스마트 매칭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현실의 문제: 견적서마다 '전시 공통', '● 홍대점_거래명세서', '1-1. 개발 상세', '인건비 공통' 등 시트명이 제각각</a:t>
            </a:r>
            <a:br/>
            <a:r>
              <a:t>• 에이전트 해법: 퍼지 매칭 및 키워드 기반 스마트 매핑 알고리즘으로 양측 엑셀의 대응 시트를 자동 페어링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920240"/>
            <a:ext cx="30476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  <a:latin typeface="Malgun Gothic"/>
              </a:defRPr>
            </a:pPr>
            <a:r>
              <a:t>에러 방지 특허급 로직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39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🎯 10행 동적 헤더 스캐너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현실의 문제: 표 상단에 결재란, 안내문 등이 있어 '단가', '수량' 열 머리글 위치가 행마다 다름</a:t>
            </a:r>
            <a:br/>
            <a:r>
              <a:t>• 에이전트 해법: 첫 10행을 자율 스캔하여 최적의 헤더 행을 탐지하고 단가/수량/금액/규격 열을 유연하게 매핑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1345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047695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Malgun Gothic"/>
              </a:defRPr>
            </a:pPr>
            <a:r>
              <a:t>광고주 지적 원천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377440"/>
            <a:ext cx="3139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⚠️ FAQ 10 하드코딩 수식 적발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현실의 문제: 광고주 요구사항 '노임단가 표에서 단가를 끌어와 수식에 포함할 것 (숫자 곱하기 금지)'</a:t>
            </a:r>
            <a:br/>
            <a:r>
              <a:t>• 에이전트 해법: '수량 × 단가 == 금액' 수식 정합성을 전수 검사하여 하드코딩 숫자 및 계산 오류 즉각 적발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CORE ENGINE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광고주 10대 정산 FAQ 완벽 자동 격파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광고주가 묻기 전에 시스템이 먼저 검증하고, 지적 시 즉각 제출할 소명 패키지를 완성합니다.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02575"/>
              </a:tblGrid>
              <a:tr h="39901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광고주 핵심 질의 (Pain Point)</a:t>
                      </a:r>
                    </a:p>
                  </a:txBody>
                  <a:tcPr>
                    <a:solidFill>
                      <a:srgbClr val="18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E5FF"/>
                          </a:solidFill>
                          <a:latin typeface="Malgun Gothic"/>
                        </a:defRPr>
                      </a:pPr>
                      <a:r>
                        <a:t>AI 견적감독관 자동 대응 및 해결 메커니즘 (Solution)</a:t>
                      </a:r>
                    </a:p>
                  </a:txBody>
                  <a:tcPr>
                    <a:solidFill>
                      <a:srgbClr val="182D5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FAQ 01. 인력 투입 일수 근거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KIDP 원형개발 5단계 표준품셈(총 5.0 M/D) 대비 직급별 적정 공수 검증 및 소명서 생성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FAQ 02. 투입률 100% 초과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근로기준법 기준 1인 1일 투입률 자동 추적, 140% 초과 전액 비적합 판정 및 야간 사유서 매핑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FAQ 03. 과거·유사 건 대비 차이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기준견적 대비 면적·모터축·소재·부품 사양 변화 요인을 수량×단가 정량 산식으로 분해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04. 솔루션 재활용 신규청구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기존 개발 모듈과 신규 추가 모듈 자동 대조 → 변경 모듈만 인정하고 중복 청구 차단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05. 역할·항목 중복 청구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IT PM vs 기획자 직무 매트릭스(RACI) 교차 검증 및 네트워크 라우터 중복 청구 사전 제거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06. 미실행·가안 청구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CR(변경승인) 시트와 실시간 대조 → 광고주 미승인·반려 건은 비적합 분류 및 청구 원천 배제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07. 구매품·하드웨어 실체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조달청 나라장터 표준시장가격 대조, 단가 괴리율 20% 초과 시 경고 및 품목 구성 세부 규격화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08. 수량·버퍼·배치 위치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베뉴별 설치 수량과 예비 버퍼(Buffer) 수량을 데이터 열로 분리하여 명확한 위치 표기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09. 현장 증빙 자료 부족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시공 사진, 작업일보, 납품 확인서를 공종별·날짜별 디지털 패키징으로 자동 연계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FAQ 10. 수식 및 문서 양식 오류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Malgun Gothic"/>
                        </a:defRPr>
                      </a:pPr>
                      <a:r>
                        <a:t>하드코딩 숫자 적발, '단가표 참조 수식(=)' 강제 검증, 키트별 소계 자동 생성</a:t>
                      </a:r>
                    </a:p>
                  </a:txBody>
                  <a:tcPr>
                    <a:solidFill>
                      <a:srgbClr val="0E14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CORE ENGINE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5대 축 정밀 분해 감리 및 신호등(🟢/🟡/🔴) 판정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단순한 숫자 비교가 아닌 [인력비·투입률·단가·제작비·승인절차] 5대 축으로 분해하여 판정합니다.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011680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① 인력비 축</a:t>
            </a:r>
          </a:p>
          <a:p>
            <a:pPr>
              <a:defRPr sz="950">
                <a:solidFill>
                  <a:srgbClr val="E2E8F0"/>
                </a:solidFill>
                <a:latin typeface="Malgun Gothic"/>
              </a:defRPr>
            </a:pPr>
            <a:r>
              <a:t>KOSA/KIDP 노임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3278" y="1737360"/>
            <a:ext cx="2011680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8998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② 투입률 축</a:t>
            </a:r>
          </a:p>
          <a:p>
            <a:pPr>
              <a:defRPr sz="950">
                <a:solidFill>
                  <a:srgbClr val="E2E8F0"/>
                </a:solidFill>
                <a:latin typeface="Malgun Gothic"/>
              </a:defRPr>
            </a:pPr>
            <a:r>
              <a:t>근로기준법 100% 원칙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5036" y="1737360"/>
            <a:ext cx="2011680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0756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③ 단가 축</a:t>
            </a:r>
          </a:p>
          <a:p>
            <a:pPr>
              <a:defRPr sz="950">
                <a:solidFill>
                  <a:srgbClr val="E2E8F0"/>
                </a:solidFill>
                <a:latin typeface="Malgun Gothic"/>
              </a:defRPr>
            </a:pPr>
            <a:r>
              <a:t>조달청 자재가·25% 급등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6795" y="1737360"/>
            <a:ext cx="2011680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2515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④ 제작비 축</a:t>
            </a:r>
          </a:p>
          <a:p>
            <a:pPr>
              <a:defRPr sz="950">
                <a:solidFill>
                  <a:srgbClr val="E2E8F0"/>
                </a:solidFill>
                <a:latin typeface="Malgun Gothic"/>
              </a:defRPr>
            </a:pPr>
            <a:r>
              <a:t>모터·소재·사양 변화 분해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58553" y="1737360"/>
            <a:ext cx="2011680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4273" y="1783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⑤ 승인절차 축</a:t>
            </a:r>
          </a:p>
          <a:p>
            <a:pPr>
              <a:defRPr sz="950">
                <a:solidFill>
                  <a:srgbClr val="E2E8F0"/>
                </a:solidFill>
                <a:latin typeface="Malgun Gothic"/>
              </a:defRPr>
            </a:pPr>
            <a:r>
              <a:t>CR 변경승인 미확인 차단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🟢 적합 (Pass)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기준: 기준 견적 대비 변동 없음 또는 공인 노임/단가 기준 부합</a:t>
            </a:r>
            <a:br/>
            <a:r>
              <a:t>• 자동 조치: 공공 기준 출처 및 품셈 산출식을 자동으로 첨부하여 무결점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  <a:latin typeface="Malgun Gothic"/>
              </a:defRPr>
            </a:pPr>
            <a:r>
              <a:t>🟡 조건부 적합 (Review)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기준: 야간 집중 투입(투입률 100~130%) 또는 사양 변경으로 인한 단가 상승 구간</a:t>
            </a:r>
            <a:br/>
            <a:r>
              <a:t>• 자동 조치: 담당자에게 야간 작업일보 및 변경 사양 소명서 템플릿 자동 발행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🔴 비적합 (Fail / Cut)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기준: 공공 노임 초과, 투입률 140% 초과, CR 미승인/반려건 청구, 단가 급등</a:t>
            </a:r>
            <a:br/>
            <a:r>
              <a:t>• 자동 조치: 불합리 증액 규모를 전액 삭감 요구액으로 집계하고 시정요구서 발행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THE 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지금 이 순간에도 전 세계 어디서나 실시간 접속 가능한 라이브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심사위원과 팀원 누구나 모바일/PC 브라우저에서 즉시 체험할 수 있도록 배포 완료되었습니다.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1020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FF"/>
                </a:solidFill>
                <a:latin typeface="Malgun Gothic"/>
              </a:defRPr>
            </a:pPr>
            <a:r>
              <a:t>🌐 심사위원 실시간 라이브 접속 오픈 도메인 (Cloudflare 초고속 엣지망)</a:t>
            </a:r>
          </a:p>
          <a:p>
            <a:pPr>
              <a:spcBef>
                <a:spcPts val="600"/>
              </a:spcBef>
              <a:defRPr sz="1550" b="1">
                <a:solidFill>
                  <a:srgbClr val="F59E0B"/>
                </a:solidFill>
                <a:latin typeface="Malgun Gothic"/>
              </a:defRPr>
            </a:pPr>
            <a:r>
              <a:t>URL: https://paper-asin-equations-percent.trycloudflare.com  (비밀번호 없음, 클릭 즉시 가동)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※ 사내망 직통: http://10.206.57.251:8501 | 백업 도메인: https://cheil-estimate-auditor.loca.lt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257800" cy="128016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E5FF"/>
                </a:solidFill>
                <a:latin typeface="Malgun Gothic"/>
              </a:defRPr>
            </a:pPr>
            <a:r>
              <a:t>Tab 0. 견적 진단·감리실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적합/조건부/비적합 필터링, 공공 기준 근거 상세 카드, 시정 요구서 발행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91840"/>
            <a:ext cx="5257800" cy="128016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8328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E5FF"/>
                </a:solidFill>
                <a:latin typeface="Malgun Gothic"/>
              </a:defRPr>
            </a:pPr>
            <a:r>
              <a:t>Tab 1. 신호등 감리 리포트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고위험·중위험 소명 항목별 사유 분석 및 단가 차이 원인 해설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5257800" cy="128016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E5FF"/>
                </a:solidFill>
                <a:latin typeface="Malgun Gothic"/>
              </a:defRPr>
            </a:pPr>
            <a:r>
              <a:t>Tab 2. 제작비 요인 분해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'B키트가 비싼 이유'를 크기·소재·가공난이도·전자부품별 정량 분해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09160"/>
            <a:ext cx="5257800" cy="1280160"/>
          </a:xfrm>
          <a:prstGeom prst="roundRect">
            <a:avLst/>
          </a:prstGeom>
          <a:solidFill>
            <a:srgbClr val="18203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0060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E5FF"/>
                </a:solidFill>
                <a:latin typeface="Malgun Gothic"/>
              </a:defRPr>
            </a:pPr>
            <a:r>
              <a:t>Tab 4. 광고주 질의 대응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광고주 10대 FAQ 유형별 1초 자동 소명서 및 공문서 마크다운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FIELD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실제 삼성전자 / 제일기획 4대 기준견적서 실전 감리 검증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실제 현업 데이터 4종을 투입하여 비적합 과다청구 적발 및 공공 기준 소명 능력을 실증했습니다.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Malgun Gothic"/>
              </a:defRPr>
            </a:pPr>
            <a:r>
              <a:t>Case 1. S26 Miracle 키트/컨텐츠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1-1. 개발 상세 시트 10개 항목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결과: 총 10건 중 10건 적합 판정 (100% 공공 노임 준수)</a:t>
            </a:r>
            <a:br/>
            <a:r>
              <a:t>• 증빙: KOSA 및 KIDP 고시 노임단가 범위 내 정합성 공식 입증</a:t>
            </a:r>
            <a:br/>
            <a:r>
              <a:t>• 효과: 광고주 의구심 사전 해소로 1회차 무수정 승인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47088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F4444"/>
                </a:solidFill>
                <a:latin typeface="Malgun Gothic"/>
              </a:defRPr>
            </a:pPr>
            <a:r>
              <a:t>Case 2. 홍대점 집기제작 &amp; 전시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● 홍대점_거래명세서 48개 항목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결과: 미승인 변경건 2건 적발 (불합리 증액 ₩2,400만 원 차단)</a:t>
            </a:r>
            <a:br/>
            <a:r>
              <a:t>• 증빙: CR(변경승인) 미확인 항목 신호등 빨간불 표시 및 삭감 요구</a:t>
            </a:r>
            <a:br/>
            <a:r>
              <a:t>• 효과: 프로젝트 예산 누수 원천 차단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AB308"/>
                </a:solidFill>
                <a:latin typeface="Malgun Gothic"/>
              </a:defRPr>
            </a:pPr>
            <a:r>
              <a:t>Case 3. 프로야구 KBO 베뉴 키트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야구 키트 및 원형 개발 시트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결과: 야간 설치 투입률 120% 초과 구간 자동 탐지</a:t>
            </a:r>
            <a:br/>
            <a:r>
              <a:t>• 증빙: 근로기준법 제56조 야간할증 및 현장 출장 사유서 자동 연계</a:t>
            </a:r>
            <a:br/>
            <a:r>
              <a:t>• 효과: 광고주의 '야간상주 필요성' 질의(FAQ 02) 원스톱 방어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087368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B82F6"/>
                </a:solidFill>
                <a:latin typeface="Malgun Gothic"/>
              </a:defRPr>
            </a:pPr>
            <a:r>
              <a:t>Case 4. 삼성 사업장 전시 &amp; 인건비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수원/기흥 사업장 &amp; 인건비 공통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결과: 수식 누락 및 하드코딩 단가 3건 자동 적발</a:t>
            </a:r>
            <a:br/>
            <a:r>
              <a:t>• 증빙: '수량 × 단가 != 금액' 오류를 견적 제출 전 사전 보정</a:t>
            </a:r>
            <a:br/>
            <a:r>
              <a:t>• 효과: 광고주 양식 지적(FAQ 10) 사전 100% 예방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검토는 3분 만에, 재질의는 0건으로, 정산은 즉시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AX(인공지능 전환)가 가져온 제일기획 견적·정산 업무의 정량적 혁신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4477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70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⏱️ 견적 검토 시간</a:t>
            </a:r>
          </a:p>
          <a:p>
            <a:pPr>
              <a:spcBef>
                <a:spcPts val="1400"/>
              </a:spcBef>
              <a:defRPr sz="2800" b="1">
                <a:solidFill>
                  <a:srgbClr val="00E5FF"/>
                </a:solidFill>
                <a:latin typeface="Malgun Gothic"/>
              </a:defRPr>
            </a:pPr>
            <a:r>
              <a:t>96% 단축</a:t>
            </a:r>
          </a:p>
          <a:p>
            <a:pPr>
              <a:spcBef>
                <a:spcPts val="800"/>
              </a:spcBef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기존 2일 (16시간) → AI 3분 완료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수작업 엑셀 대조 및 셀프 체크리스트 자동화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737360"/>
            <a:ext cx="254477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6335" y="1920240"/>
            <a:ext cx="2270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💬 광고주 재질의율</a:t>
            </a:r>
          </a:p>
          <a:p>
            <a:pPr>
              <a:spcBef>
                <a:spcPts val="1400"/>
              </a:spcBef>
              <a:defRPr sz="2800" b="1">
                <a:solidFill>
                  <a:srgbClr val="F59E0B"/>
                </a:solidFill>
                <a:latin typeface="Malgun Gothic"/>
              </a:defRPr>
            </a:pPr>
            <a:r>
              <a:t>85% 격감</a:t>
            </a:r>
          </a:p>
          <a:p>
            <a:pPr>
              <a:spcBef>
                <a:spcPts val="800"/>
              </a:spcBef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기존 45% 발생 → 5% 이하 달성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FAQ 10대 유형별 사전 증빙 패키징으로 재문의 차단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830" y="1737360"/>
            <a:ext cx="254477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3990" y="1920240"/>
            <a:ext cx="2270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💰 예산 누수 방지</a:t>
            </a:r>
          </a:p>
          <a:p>
            <a:pPr>
              <a:spcBef>
                <a:spcPts val="1400"/>
              </a:spcBef>
              <a:defRPr sz="2800" b="1">
                <a:solidFill>
                  <a:srgbClr val="EF4444"/>
                </a:solidFill>
                <a:latin typeface="Malgun Gothic"/>
              </a:defRPr>
            </a:pPr>
            <a:r>
              <a:t>5~12% 삭감</a:t>
            </a:r>
          </a:p>
          <a:p>
            <a:pPr>
              <a:spcBef>
                <a:spcPts val="800"/>
              </a:spcBef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프로젝트당 수천만~수억 원 절감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미승인 변경건 및 140% 초과 과다청구 즉시 삭감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4485" y="1737360"/>
            <a:ext cx="2544775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1645" y="1920240"/>
            <a:ext cx="2270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🚀 대금 회수 리드타임</a:t>
            </a:r>
          </a:p>
          <a:p>
            <a:pPr>
              <a:spcBef>
                <a:spcPts val="1400"/>
              </a:spcBef>
              <a:defRPr sz="2800" b="1">
                <a:solidFill>
                  <a:srgbClr val="10B981"/>
                </a:solidFill>
                <a:latin typeface="Malgun Gothic"/>
              </a:defRPr>
            </a:pPr>
            <a:r>
              <a:t>3주 단축</a:t>
            </a:r>
          </a:p>
          <a:p>
            <a:pPr>
              <a:spcBef>
                <a:spcPts val="800"/>
              </a:spcBef>
              <a:defRPr sz="1100" b="1">
                <a:solidFill>
                  <a:srgbClr val="E2E8F0"/>
                </a:solidFill>
                <a:latin typeface="Malgun Gothic"/>
              </a:defRPr>
            </a:pPr>
            <a:r>
              <a:t>기존 4주 소요 → 1주일 내 입금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1회차 정산 종결을 통한 전사 캐시플로우 혁신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FUTURE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한국을 넘어 글로벌 베뉴로, 전사 견적 인텔리전스로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단일 프로젝트 감리에 머물지 않고 전사 표준 단가 DB 자산화 및 글로벌 롤아웃을 추진합니다.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00E5FF"/>
                </a:solidFill>
                <a:latin typeface="Malgun Gothic"/>
              </a:defRPr>
            </a:pPr>
            <a:r>
              <a:t>🌍 1. 글로벌 베뉴 규정 엔진 확장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북미: 미국 노동통계국(BLS) 직종별 임금, Union OT 및 State Sales Tax 반영</a:t>
            </a:r>
            <a:br/>
            <a:r>
              <a:t>• 유럽: Eurostat 노임 통계, 주 48시간 근로 상한 및 국가별 VAT 연동</a:t>
            </a:r>
            <a:br/>
            <a:r>
              <a:t>• 아시아: 현지 실시간 환율 기준일 기록 및 해외 파견 경비 분리 검증</a:t>
            </a:r>
            <a:br/>
            <a:r>
              <a:t>• 효과: 국내뿐 아니라 글로벌 언팩, 해외 로드쇼 견적도 동일한 감리 엔진 적용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257800" cy="4389120"/>
          </a:xfrm>
          <a:prstGeom prst="roundRect">
            <a:avLst/>
          </a:prstGeom>
          <a:solidFill>
            <a:srgbClr val="1820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59E0B"/>
                </a:solidFill>
                <a:latin typeface="Malgun Gothic"/>
              </a:defRPr>
            </a:pPr>
            <a:r>
              <a:t>🧠 2. 전사 견적 인텔리전스 (Data Flywheel)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Malgun Gothic"/>
              </a:defRPr>
            </a:pPr>
            <a:r>
              <a:t>• 정산이 완료된 실적 파일(7개 프로젝트 등)을 자동 인제스트하여 사내 표준 단가 DB 고도화</a:t>
            </a:r>
            <a:br/>
            <a:r>
              <a:t>• '유사 프로젝트 유사 사양' 검색 엔진 구축 → 견적 작성 단계부터 적정가 가이드 제공</a:t>
            </a:r>
            <a:br/>
            <a:r>
              <a:t>• 자주 묻는 광고주 질의 패턴 머신러닝 학습으로 답변 적중률 99% 달성</a:t>
            </a:r>
            <a:br/>
            <a:r>
              <a:t>• 효과: 쓸수록 정교해지는 제일기획만의 독보적인 견적 자산화 실현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20040"/>
          </a:xfrm>
          <a:prstGeom prst="roundRect">
            <a:avLst/>
          </a:prstGeom>
          <a:solidFill>
            <a:srgbClr val="0F1C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심사위원 3분 현장 라이브 시연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심사위원께서 현장에서 직접 확인하실 수 있는 4단계 실시간 감리 시연 동선입니다.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82"/>
                </a:solidFill>
                <a:latin typeface="Malgun Gothic"/>
              </a:defRPr>
            </a:pPr>
            <a:r>
              <a:t>제일기획 AX 경진대회 출품작 | AI 견적감독관 (Estimate Auditor) | Slide 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44775" cy="4389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179015" cy="365760"/>
          </a:xfrm>
          <a:prstGeom prst="roundRect">
            <a:avLst/>
          </a:prstGeom>
          <a:solidFill>
            <a:srgbClr val="101C3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Malgun Gothic"/>
              </a:defRPr>
            </a:pPr>
            <a:r>
              <a:t>⏱️ 00:30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704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1. 견적서 공급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사이드바에서 [S26 Miracle 키트] 선택</a:t>
            </a:r>
            <a:br/>
            <a:r>
              <a:t>• 또는 신규 엑셀 파일 즉시 드래그 앤 드롭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175" y="1737360"/>
            <a:ext cx="2544775" cy="4389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42055" y="1920240"/>
            <a:ext cx="2179015" cy="365760"/>
          </a:xfrm>
          <a:prstGeom prst="roundRect">
            <a:avLst/>
          </a:prstGeom>
          <a:solidFill>
            <a:srgbClr val="101C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⏱️ 01:00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335" y="2468880"/>
            <a:ext cx="22704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2. 5대 축 자동 감리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14개 시트 스마트 대조</a:t>
            </a:r>
            <a:br/>
            <a:r>
              <a:t>• 6대 공공 기준 대조 및 신호등 판정 표출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6830" y="1737360"/>
            <a:ext cx="2544775" cy="4389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9710" y="1920240"/>
            <a:ext cx="2179015" cy="365760"/>
          </a:xfrm>
          <a:prstGeom prst="roundRect">
            <a:avLst/>
          </a:prstGeom>
          <a:solidFill>
            <a:srgbClr val="101C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  <a:latin typeface="Malgun Gothic"/>
              </a:defRPr>
            </a:pPr>
            <a:r>
              <a:t>⏱️ 02:00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990" y="2468880"/>
            <a:ext cx="22704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3. 비적합 사유 검증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[비적합만 보기] 클릭</a:t>
            </a:r>
            <a:br/>
            <a:r>
              <a:t>• KIDP 품셈 초과 및 근로기준법 법령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4485" y="1737360"/>
            <a:ext cx="2544775" cy="4389120"/>
          </a:xfrm>
          <a:prstGeom prst="roundRect">
            <a:avLst/>
          </a:prstGeom>
          <a:solidFill>
            <a:srgbClr val="1820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7365" y="1920240"/>
            <a:ext cx="2179015" cy="365760"/>
          </a:xfrm>
          <a:prstGeom prst="roundRect">
            <a:avLst/>
          </a:prstGeom>
          <a:solidFill>
            <a:srgbClr val="101C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⏱️ 03:00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1645" y="2468880"/>
            <a:ext cx="22704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4. 공문 소명서 다운로드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Malgun Gothic"/>
              </a:defRPr>
            </a:pPr>
            <a:r>
              <a:t>• [🏛️ 공문형 정식 감리 진단서 생성] 클릭</a:t>
            </a:r>
            <a:br/>
            <a:r>
              <a:t>• 마크다운 소명서 1초 생성 및 다운로드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9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🏆 대상(Grand Prize) 수상의 당위성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"가장 치열한 정산의 현장에서, 가장 확실한 AX의 답을 증명했습니다."</a:t>
            </a:r>
          </a:p>
          <a:p>
            <a:pPr>
              <a:spcBef>
                <a:spcPts val="1600"/>
              </a:spcBef>
              <a:defRPr sz="1350">
                <a:solidFill>
                  <a:srgbClr val="E2E8F0"/>
                </a:solidFill>
                <a:latin typeface="Malgun Gothic"/>
              </a:defRPr>
            </a:pPr>
            <a:r>
              <a:t>1. 단순한 아이디어나 목업이 아닌, 100% 라이브 가동 중인 '실전형 AI 에이전트'</a:t>
            </a:r>
            <a:br/>
            <a:r>
              <a:t>2. 광고주 10대 정산 FAQ의 모든 페인포인트를 1:1로 해결한 '완성도 높은 비즈니스 모델'</a:t>
            </a:r>
            <a:br/>
            <a:r>
              <a:t>3. KIDP, KOSA, 근로기준법 등 6대 국가 표준을 탑재하여 '투명성과 공신력' 확보</a:t>
            </a:r>
            <a:br/>
            <a:r>
              <a:t>4. 연간 수백억 원의 제작비 정산 시간을 96% 단축하고 예산 누수를 차단하는 '압도적 ROI'</a:t>
            </a:r>
          </a:p>
          <a:p>
            <a:pPr>
              <a:spcBef>
                <a:spcPts val="2000"/>
              </a:spcBef>
              <a:defRPr sz="1700" b="1">
                <a:solidFill>
                  <a:srgbClr val="00E5FF"/>
                </a:solidFill>
                <a:latin typeface="Malgun Gothic"/>
              </a:defRPr>
            </a:pPr>
            <a:r>
              <a:t>모든 숫자에 출처를, 모든 답변에 근거를. —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