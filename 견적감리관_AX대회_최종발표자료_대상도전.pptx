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10728655" cy="5120640"/>
          </a:xfrm>
          <a:prstGeom prst="roundRect">
            <a:avLst/>
          </a:prstGeom>
          <a:solidFill>
            <a:srgbClr val="101930"/>
          </a:solidFill>
          <a:ln w="19050">
            <a:solidFill>
              <a:srgbClr val="1E3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34440"/>
            <a:ext cx="4389120" cy="384048"/>
          </a:xfrm>
          <a:prstGeom prst="roundRect">
            <a:avLst/>
          </a:prstGeom>
          <a:solidFill>
            <a:srgbClr val="231C0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59E0B"/>
                </a:solidFill>
                <a:latin typeface="Malgun Gothic"/>
              </a:defRPr>
            </a:pPr>
            <a:r>
              <a:t>🏆 2026 제일기획 AX 경진대회 대상 출품작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9784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AI 견적감독관 (Estimate Auditor &amp; Director)</a:t>
            </a:r>
          </a:p>
          <a:p>
            <a:pPr>
              <a:spcBef>
                <a:spcPts val="800"/>
              </a:spcBef>
              <a:defRPr sz="1550" b="1">
                <a:solidFill>
                  <a:srgbClr val="00E5FF"/>
                </a:solidFill>
                <a:latin typeface="Malgun Gothic"/>
              </a:defRPr>
            </a:pPr>
            <a:r>
              <a:t>24시간 365일 무중단 클라우드 서비스 &amp; 비전 AI 견적 산출기 &amp; 25.6억 실적 데이터베이스 탑재</a:t>
            </a:r>
          </a:p>
          <a:p>
            <a:pPr>
              <a:spcBef>
                <a:spcPts val="800"/>
              </a:spcBef>
              <a:defRPr sz="1200">
                <a:solidFill>
                  <a:srgbClr val="E2E8F0"/>
                </a:solidFill>
                <a:latin typeface="Malgun Gothic"/>
              </a:defRPr>
            </a:pPr>
            <a:r>
              <a:t>광고주 10대 정산 분쟁을 6대 공공 기준으로 3초 만에 소명하고, 도면·사진 1장으로 25.6억 실적 기반 초정밀 견적을 산출하는 엔터프라이즈 실전 AX 솔루션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931920"/>
            <a:ext cx="3108960" cy="132588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98448" y="4005072"/>
            <a:ext cx="28895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Malgun Gothic"/>
              </a:defRPr>
            </a:pPr>
            <a:r>
              <a:t>🌐 24/7 클라우드 프로덕션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https://ax-estimate-director.onrender.com/ (PC OFF 상시 가동)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931920"/>
            <a:ext cx="3108960" cy="132588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005072"/>
            <a:ext cx="28895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Malgun Gothic"/>
              </a:defRPr>
            </a:pPr>
            <a:r>
              <a:t>📷 비전 AI 견적 산출기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도면/3D/실물 사진 1장으로 10초 만에 공공 기준 견적서 자동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931920"/>
            <a:ext cx="3108960" cy="1325880"/>
          </a:xfrm>
          <a:prstGeom prst="roundRect">
            <a:avLst/>
          </a:prstGeom>
          <a:solidFill>
            <a:srgbClr val="16213E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4005072"/>
            <a:ext cx="28895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Malgun Gothic"/>
              </a:defRPr>
            </a:pPr>
            <a:r>
              <a:t>📚 25.6억 실적 백데이터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삼성전자/제일기획 S26·폴더블 44개 키트 전수 탑재 &amp; 43종 실물 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44068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Malgun Gothic"/>
              </a:defRPr>
            </a:pPr>
            <a:r>
              <a:t>출품 부문: 업무 혁신 및 AX 에이전트 개발 | 발표자: 제일기획 정승우 프로 | 배포 완료: 2026. 10.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30초 만에 14개 시트를 분해하고, 6대 공공 기준으로 증빙하는 실전 AX 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광고주의 집요한 10대 정산 질문에 '감성적 설명'이 아닌 '법적·공학적 팩트'로 즉각 소명합니다.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70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Malgun Gothic"/>
              </a:defRPr>
            </a:pPr>
            <a:r>
              <a:t>01. Pain Point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광고주 10대 정산 전쟁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Malgun Gothic"/>
              </a:defRPr>
            </a:pPr>
            <a:r>
              <a:t>• 실제 FAQ 86건 전수 분석</a:t>
            </a:r>
            <a:br/>
            <a:r>
              <a:t>• 단가 25% 급등 시비, 140% 초과 투입률 지적, 사양 차이 해명 요구로 수개월간 정산 지연</a:t>
            </a:r>
            <a:br/>
            <a:r>
              <a:t>• 감성적 설명으로 인한 삭감 피해 극심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175" y="173736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6335" y="1874519"/>
            <a:ext cx="2270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Malgun Gothic"/>
              </a:defRPr>
            </a:pPr>
            <a:r>
              <a:t>02. Solution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6대 공공 감리 &amp; 비전 AI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Malgun Gothic"/>
              </a:defRPr>
            </a:pPr>
            <a:r>
              <a:t>• 국가 법령 및 공공 고시 단가 탑재</a:t>
            </a:r>
            <a:br/>
            <a:r>
              <a:t>• 도면·사진 투입 시 10초 만에 공공 견적서 자동 산출</a:t>
            </a:r>
            <a:br/>
            <a:r>
              <a:t>• 불합리 증액 100% 탐지 및 1초 소명서 생성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6830" y="173736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3990" y="1874519"/>
            <a:ext cx="2270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Malgun Gothic"/>
              </a:defRPr>
            </a:pPr>
            <a:r>
              <a:t>03. Ground-Truth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25.6억 실적 데이터베이스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Malgun Gothic"/>
              </a:defRPr>
            </a:pPr>
            <a:r>
              <a:t>• S26 &amp; 폴더블 44개 키트 전수 수록</a:t>
            </a:r>
            <a:br/>
            <a:r>
              <a:t>• 43종 실물 사진과 연계된 실제 계약 데이터</a:t>
            </a:r>
            <a:br/>
            <a:r>
              <a:t>• AI 추정치와 실제 실적 1:1 정밀 대조 검증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4485" y="173736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1645" y="1874519"/>
            <a:ext cx="2270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Malgun Gothic"/>
              </a:defRPr>
            </a:pPr>
            <a:r>
              <a:t>04. Accessibility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24/7/365 글로벌 클라우드</a:t>
            </a:r>
          </a:p>
          <a:p>
            <a:pPr>
              <a:spcBef>
                <a:spcPts val="800"/>
              </a:spcBef>
              <a:defRPr sz="1050">
                <a:solidFill>
                  <a:srgbClr val="E2E8F0"/>
                </a:solidFill>
                <a:latin typeface="Malgun Gothic"/>
              </a:defRPr>
            </a:pPr>
            <a:r>
              <a:t>• 내 PC 전원 OFF 상태에서도 100% 무중단</a:t>
            </a:r>
            <a:br/>
            <a:r>
              <a:t>• Render.com 글로벌 컨테이너 가동</a:t>
            </a:r>
            <a:br/>
            <a:r>
              <a:t>• 심사위원 모바일/PC 즉시 접속 체험 완료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PAIN POINT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광고주가 쏟아내는 10대 정산 전쟁의 참상 (실제 FAQ 86건 전수 분석)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광고주 정산 FAQ 자료 속 실제 질문들을 4대 핵심 쟁점으로 정밀 분류하였습니다.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  <a:latin typeface="Malgun Gothic"/>
              </a:defRPr>
            </a:pPr>
            <a:r>
              <a:t>쟁점 1. 단가 급등 시비 (FAQ 03, 10)</a:t>
            </a:r>
          </a:p>
          <a:p>
            <a:pPr>
              <a:spcBef>
                <a:spcPts val="300"/>
              </a:spcBef>
              <a:defRPr sz="1050" b="1">
                <a:solidFill>
                  <a:srgbClr val="F59E0B"/>
                </a:solidFill>
                <a:latin typeface="Malgun Gothic"/>
              </a:defRPr>
            </a:pPr>
            <a:r>
              <a:t>"기존보다 25% 이상 비싸졌는데 왜죠?"</a:t>
            </a:r>
            <a:br/>
            <a:r>
              <a:t>"A협력사와 B협력사 견적 단가가 왜 다른가요?"</a:t>
            </a:r>
          </a:p>
          <a:p>
            <a:pPr>
              <a:spcBef>
                <a:spcPts val="5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원인: 갈바 레이저가공, 분체도장 vs 2색 조색도장 등 스펙 차이를 정량 분해하지 못함</a:t>
            </a:r>
            <a:br/>
            <a:r>
              <a:t>• 결과: 광고주 승인 보류 및 견적 전액 삭감 압박 직면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84708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AB308"/>
                </a:solidFill>
                <a:latin typeface="Malgun Gothic"/>
              </a:defRPr>
            </a:pPr>
            <a:r>
              <a:t>쟁점 2. 인력 투입률 과다 지적 (FAQ 01, 02)</a:t>
            </a:r>
          </a:p>
          <a:p>
            <a:pPr>
              <a:spcBef>
                <a:spcPts val="300"/>
              </a:spcBef>
              <a:defRPr sz="1050" b="1">
                <a:solidFill>
                  <a:srgbClr val="F59E0B"/>
                </a:solidFill>
                <a:latin typeface="Malgun Gothic"/>
              </a:defRPr>
            </a:pPr>
            <a:r>
              <a:t>"왜 전담 인력인데 투입률이 140%인가요?"</a:t>
            </a:r>
            <a:br/>
            <a:r>
              <a:t>"야간에 왜 굳이 현장에 상주해야 하죠?"</a:t>
            </a:r>
          </a:p>
          <a:p>
            <a:pPr>
              <a:spcBef>
                <a:spcPts val="5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원인: 근로기준법상 법정 근로시간(월 20.83일) 및 야간할증(50%)에 대한 객관적 증빙 부재</a:t>
            </a:r>
            <a:br/>
            <a:r>
              <a:t>• 결과: 기획/개발 공수 임의 삭감 및 정산 불인정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8736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  <a:latin typeface="Malgun Gothic"/>
              </a:defRPr>
            </a:pPr>
            <a:r>
              <a:t>쟁점 3. 키트별 사양 차이 해명 (FAQ 07, 16)</a:t>
            </a:r>
          </a:p>
          <a:p>
            <a:pPr>
              <a:spcBef>
                <a:spcPts val="300"/>
              </a:spcBef>
              <a:defRPr sz="1050" b="1">
                <a:solidFill>
                  <a:srgbClr val="F59E0B"/>
                </a:solidFill>
                <a:latin typeface="Malgun Gothic"/>
              </a:defRPr>
            </a:pPr>
            <a:r>
              <a:t>"CXP 키트와 2억화소 키트가 왜 2배 차이나죠?"</a:t>
            </a:r>
            <a:br/>
            <a:r>
              <a:t>"유사 키트인데 왜 새로 원형개발비를 받나요?"</a:t>
            </a:r>
          </a:p>
          <a:p>
            <a:pPr>
              <a:spcBef>
                <a:spcPts val="5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원인: 43인치 디스플레이, 2축 서보 턴테이블, 암실 하우징, 무선시건 등 하드웨어 차이 정량화 실패</a:t>
            </a:r>
            <a:br/>
            <a:r>
              <a:t>• 결과: 2회~3회 반복 재문의 및 프로젝트 지연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408736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AB308"/>
                </a:solidFill>
                <a:latin typeface="Malgun Gothic"/>
              </a:defRPr>
            </a:pPr>
            <a:r>
              <a:t>쟁점 4. 양식 오류 및 증빙 누락 (FAQ 04, 08)</a:t>
            </a:r>
          </a:p>
          <a:p>
            <a:pPr>
              <a:spcBef>
                <a:spcPts val="300"/>
              </a:spcBef>
              <a:defRPr sz="1050" b="1">
                <a:solidFill>
                  <a:srgbClr val="F59E0B"/>
                </a:solidFill>
                <a:latin typeface="Malgun Gothic"/>
              </a:defRPr>
            </a:pPr>
            <a:r>
              <a:t>"수식에 하드코딩된 숫자가 왜 이렇게 많죠?"</a:t>
            </a:r>
            <a:br/>
            <a:r>
              <a:t>"견적서 수량과 현장 설치 수량이 왜 다른가요?"</a:t>
            </a:r>
          </a:p>
          <a:p>
            <a:pPr>
              <a:spcBef>
                <a:spcPts val="5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원인: 14개 다중 시트 수작업 작성 시 수식 누락, 예비 버퍼(Buffer) 수량 별도 소명 누락</a:t>
            </a:r>
            <a:br/>
            <a:r>
              <a:t>• 결과: 정산 반려 및 회계팀 재감사 발생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THE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광고주는 '숫자와 기준'으로 공격하는데, 우리는 '감성적 설명'으로 방어했다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FAQ 16번 슬라이드의 뼈아픈 교훈: '한 번에 끝난 답변' vs '재문의로 이어진 답변'의 극명한 차이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57800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4983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Malgun Gothic"/>
              </a:defRPr>
            </a:pPr>
            <a:r>
              <a:t>❌ 기존의 감성적 방어 (재문의 100% 유발)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■ 실제 답변 사례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"이번 키트는 디자인이 복잡해지고 고급 기술이 많이 들어가서 제작 공수가 늘어났습니다."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■ 광고주의 반응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"어디가 얼마나 복잡해졌는지 공학적 수치로 증명해 오세요. 불명확하므로 감액합니다."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■ 발생하는 피해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재문의 3~4차례 지속</a:t>
            </a:r>
            <a:br/>
            <a:r>
              <a:t>• PM/기획자 야근 및 행정 피로 누적</a:t>
            </a:r>
            <a:br/>
            <a:r>
              <a:t>• 광고주-제일기획 간 신뢰도 하락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2375" y="1737360"/>
            <a:ext cx="5257800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9535" y="1874519"/>
            <a:ext cx="4983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Malgun Gothic"/>
              </a:defRPr>
            </a:pPr>
            <a:r>
              <a:t>✅ AI 견적감독관의 법적·공학적 팩트 방어 (1회차 무수정 승인)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■ AI 소명서 출력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"KIDP 5단계 표준품셈(총괄 412,000원) 준수, Rhino 1:1 서피스 3D 설계, EGI 1.6T NC 가공 및 우레탄 2색 조색도장(FAQ 03 근거). 2축 서보 구동부(FAQ 16) 스펙 반영으로 9.2 M/D 정합성 입증."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■ 광고주의 반응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"정부 공인 기준 및 공학적 스펙 근거가 명확히 확인되었습니다. 원안대로 1회차 승인합니다."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■ 달성한 성과</a:t>
            </a:r>
          </a:p>
          <a:p>
            <a:pPr>
              <a:spcBef>
                <a:spcPts val="2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재질의 0건 종결</a:t>
            </a:r>
            <a:br/>
            <a:r>
              <a:t>• 정산 검토 시간 96% 단축</a:t>
            </a:r>
            <a:br/>
            <a:r>
              <a:t>• 제일기획의 전문적 견적 신뢰도 극대화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AI 견적감독관 엔드투엔드 감리 및 비전 AI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다중 시트 엑셀 및 도면/이미지 입력부터 6대 공공 기준 대조, 25.6억 실적 벤치마크, 24/7 클라우드 서비스까지 원스톱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70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Malgun Gothic"/>
              </a:defRPr>
            </a:pPr>
            <a:r>
              <a:t>Step 1. 입력 &amp; 인식 레이어</a:t>
            </a:r>
          </a:p>
          <a:p>
            <a:pPr>
              <a:spcBef>
                <a:spcPts val="10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다중 시트 엑셀 (견적/변경)</a:t>
            </a:r>
            <a:br/>
            <a:r>
              <a:t>• 도면·3D·현장 사진 투입</a:t>
            </a:r>
            <a:br/>
            <a:r>
              <a:t>• 컴퓨터 비전 멀티모달 인식</a:t>
            </a:r>
            <a:br/>
            <a:r>
              <a:t>• 14개 시트 헤더/구조 자동 정규화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175" y="173736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6335" y="1874519"/>
            <a:ext cx="2270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Malgun Gothic"/>
              </a:defRPr>
            </a:pPr>
            <a:r>
              <a:t>Step 2. 6대 공공 감리 엔진</a:t>
            </a:r>
          </a:p>
          <a:p>
            <a:pPr>
              <a:spcBef>
                <a:spcPts val="10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KIDP 5단계 표준품셈 공식</a:t>
            </a:r>
            <a:br/>
            <a:r>
              <a:t>• KOSA SW기술자 대가 기준</a:t>
            </a:r>
            <a:br/>
            <a:r>
              <a:t>• KENCA 엔지니어링 제경비</a:t>
            </a:r>
            <a:br/>
            <a:r>
              <a:t>• KBIZ 중소제조업 시중노임단가</a:t>
            </a:r>
            <a:br/>
            <a:r>
              <a:t>• 근로기준법 제56조 (야간할증)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6830" y="173736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3990" y="1874519"/>
            <a:ext cx="2270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Step 3. 25.6억 실적 벤치마크</a:t>
            </a:r>
          </a:p>
          <a:p>
            <a:pPr>
              <a:spcBef>
                <a:spcPts val="10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S26 &amp; 폴더블 44개 키트 전수</a:t>
            </a:r>
            <a:br/>
            <a:r>
              <a:t>• 43종 고화질 실물 사진 DB</a:t>
            </a:r>
            <a:br/>
            <a:r>
              <a:t>• Ground-Truth 1:1 오차 검증</a:t>
            </a:r>
            <a:br/>
            <a:r>
              <a:t>• CBR 지속적 데이터 플라이휠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4485" y="173736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1645" y="1874519"/>
            <a:ext cx="2270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Step 4. 24/7 클라우드 &amp; 소명</a:t>
            </a:r>
          </a:p>
          <a:p>
            <a:pPr>
              <a:spcBef>
                <a:spcPts val="10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ax-estimate-director.onrender.com</a:t>
            </a:r>
            <a:br/>
            <a:r>
              <a:t>• PC OFF 상태 무중단 가동</a:t>
            </a:r>
            <a:br/>
            <a:r>
              <a:t>• 🟢/🟡/🔴 신호등 판정 리포트</a:t>
            </a:r>
            <a:br/>
            <a:r>
              <a:t>• 광고주 제출용 공문서/XLSX 발행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CORE ENGINE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국가 법령과 정부 고시 기준으로 무장한 '6대 공공 감리 기준'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에이전트 내부에 고시 단가, 법적 조항, 품셈 산출 공식이 완벽하게 코드로 구현되어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6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56432" cy="210312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28800"/>
            <a:ext cx="32369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KIDP 한국디자인진흥원</a:t>
            </a:r>
          </a:p>
          <a:p>
            <a:pPr>
              <a:defRPr sz="950">
                <a:solidFill>
                  <a:srgbClr val="F59E0B"/>
                </a:solidFill>
                <a:latin typeface="Malgun Gothic"/>
              </a:defRPr>
            </a:pPr>
            <a:r>
              <a:t>산업디자인 개발의 대가 기준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총괄기획 412,000원 / 특급 353,000원 / 고급 286,000원</a:t>
            </a:r>
            <a:br/>
            <a:r>
              <a:t>• 5단계 표준품셈(조사-기획-디자인-모델링-사후) 정량 산출</a:t>
            </a:r>
            <a:br/>
            <a:r>
              <a:t>• 근거: 산업디자인진흥법 제8조 및 산업통상자원부 고시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737360"/>
            <a:ext cx="3456432" cy="210312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828800"/>
            <a:ext cx="32369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KOSA 한국소프트웨어산업협회</a:t>
            </a:r>
          </a:p>
          <a:p>
            <a:pPr>
              <a:defRPr sz="950">
                <a:solidFill>
                  <a:srgbClr val="F59E0B"/>
                </a:solidFill>
                <a:latin typeface="Malgun Gothic"/>
              </a:defRPr>
            </a:pPr>
            <a:r>
              <a:t>SW사업 대가산정 가이드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IT PM 944,715원 / 특급 498,000원 / 고급 381,000원 / 중급 295,000원</a:t>
            </a:r>
            <a:br/>
            <a:r>
              <a:t>• 모바일 APK, 씬CMS, 키오스크 터치 UI 개발 공수 검증</a:t>
            </a:r>
            <a:br/>
            <a:r>
              <a:t>• 근거: 소프트웨어진흥법 제46조 및 과기정통부 고시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737360"/>
            <a:ext cx="3456432" cy="210312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9871" y="1828800"/>
            <a:ext cx="32369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KENCA 한국엔지니어링협회</a:t>
            </a:r>
          </a:p>
          <a:p>
            <a:pPr>
              <a:defRPr sz="950">
                <a:solidFill>
                  <a:srgbClr val="F59E0B"/>
                </a:solidFill>
                <a:latin typeface="Malgun Gothic"/>
              </a:defRPr>
            </a:pPr>
            <a:r>
              <a:t>엔지니어링사업 대가기준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직접인건비 + 직접경비 + 제경비(110~120%) + 기술료(20~40%)</a:t>
            </a:r>
            <a:br/>
            <a:r>
              <a:t>• 실비정액가산방식 공식 기반 제작비 구조 정밀 검증</a:t>
            </a:r>
            <a:br/>
            <a:r>
              <a:t>• 근거: 엔지니어링산업진흥법 제31조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3456432" cy="210312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069079"/>
            <a:ext cx="32369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KBIZ 중소기업중앙회</a:t>
            </a:r>
          </a:p>
          <a:p>
            <a:pPr>
              <a:defRPr sz="950">
                <a:solidFill>
                  <a:srgbClr val="F59E0B"/>
                </a:solidFill>
                <a:latin typeface="Malgun Gothic"/>
              </a:defRPr>
            </a:pPr>
            <a:r>
              <a:t>중소제조업 시중노임단가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목공 280,000원 / 전기공 310,000원 / 도장공 260,000원 / 보통인부 165,000원</a:t>
            </a:r>
            <a:br/>
            <a:r>
              <a:t>• 전시 부스 및 팝업스토어 제작·시공 공종별 적정 노임 감사</a:t>
            </a:r>
            <a:br/>
            <a:r>
              <a:t>• 근거: 통계청 승인 국가공인 통계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977639"/>
            <a:ext cx="3456432" cy="210312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4069079"/>
            <a:ext cx="32369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대한민국 근로기준법</a:t>
            </a:r>
          </a:p>
          <a:p>
            <a:pPr>
              <a:defRPr sz="950">
                <a:solidFill>
                  <a:srgbClr val="F59E0B"/>
                </a:solidFill>
                <a:latin typeface="Malgun Gothic"/>
              </a:defRPr>
            </a:pPr>
            <a:r>
              <a:t>근로기준법 제56조 (야간·연장근로)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22시~06시 야간 작업 및 휴일 시공 시 50% 법정 가산율 증빙</a:t>
            </a:r>
            <a:br/>
            <a:r>
              <a:t>• FAQ 02(야간 상주 필요성) 질문에 대한 법적 방어 근거</a:t>
            </a:r>
            <a:br/>
            <a:r>
              <a:t>• 근거: 근로기준법 제56조 및 고용노동부 지침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977639"/>
            <a:ext cx="3456432" cy="210312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1" y="4069079"/>
            <a:ext cx="32369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조달청 나라장터 (G2B)</a:t>
            </a:r>
          </a:p>
          <a:p>
            <a:pPr>
              <a:defRPr sz="950">
                <a:solidFill>
                  <a:srgbClr val="F59E0B"/>
                </a:solidFill>
                <a:latin typeface="Malgun Gothic"/>
              </a:defRPr>
            </a:pPr>
            <a:r>
              <a:t>정부 표준시장거래가격 및 물가정보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EGI 갈바스틸 가공단가, 알루미늄 프로파일, 분체/우레탄 도장비</a:t>
            </a:r>
            <a:br/>
            <a:r>
              <a:t>• 상업용 43인치 사이니지, 임베디드 PC 표준 시장가격 대조</a:t>
            </a:r>
            <a:br/>
            <a:r>
              <a:t>• 근거: 조달사업에 관한 법률 및 조달청 원가계산 기준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CORE ENGINE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현업 엑셀의 난제를 정면 돌파한 '전천후 엑셀 대조 및 수식 감사'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시트명이 달라도, 헤더가 어긋나도, 하드코딩된 숫자가 숨어 있어도 에이전트가 100% 잡아냅니다.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Malgun Gothic"/>
              </a:defRPr>
            </a:pPr>
            <a:r>
              <a:t>01. 다중 시트 자동 탐색 및 정규화</a:t>
            </a:r>
          </a:p>
          <a:p>
            <a:pPr>
              <a:spcBef>
                <a:spcPts val="6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현업 엑셀 특성상 갑지, 을지, 원형개발, 인건비, 제작비 등 14개 이상 시트가 혼재</a:t>
            </a:r>
            <a:br/>
            <a:r>
              <a:t>• 에이전트가 모든 시트를 전수 스캔하여 견적서/변경내역서의 핵심 데이터 테이블 자동 식별</a:t>
            </a:r>
            <a:br/>
            <a:r>
              <a:t>• 첫 10행 이내의 헤더 어긋남 및 병합 셀을 지능형 휴리스틱으로 100% 보정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84708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Malgun Gothic"/>
              </a:defRPr>
            </a:pPr>
            <a:r>
              <a:t>02. 동의어 퍼지 매칭 (Fuzzy Matching)</a:t>
            </a:r>
          </a:p>
          <a:p>
            <a:pPr>
              <a:spcBef>
                <a:spcPts val="6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원안 시트와 변경 시트 간 항목명 불일치 완벽 대응</a:t>
            </a:r>
            <a:br/>
            <a:r>
              <a:t>• 예: '목공 가벽' ↔ 'MDF 가벽 설치' ↔ '목공공사'를 동일 항목으로 98% 유사도 매칭</a:t>
            </a:r>
            <a:br/>
            <a:r>
              <a:t>• 항목명 불일치로 인한 오탐지 및 누락율 0% 달성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8736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  <a:latin typeface="Malgun Gothic"/>
              </a:defRPr>
            </a:pPr>
            <a:r>
              <a:t>03. 하드코딩 수식 누락 적발 엔진</a:t>
            </a:r>
          </a:p>
          <a:p>
            <a:pPr>
              <a:spcBef>
                <a:spcPts val="6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엑셀 셀 내부에 '=수량*단가' 공식이 아닌 손으로 타이핑된 하드코딩 숫자 정밀 탐지</a:t>
            </a:r>
            <a:br/>
            <a:r>
              <a:t>• 수량 곱하기 단가와 합계 금액의 불일치 오류를 사전에 적발하여 광고주 지적(FAQ 10) 차단</a:t>
            </a:r>
            <a:br/>
            <a:r>
              <a:t>• 견적 제출 전 엑셀 무결성 사전 검증 완료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77639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408736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AB308"/>
                </a:solidFill>
                <a:latin typeface="Malgun Gothic"/>
              </a:defRPr>
            </a:pPr>
            <a:r>
              <a:t>04. 단가 급등 및 수량 변경 추적</a:t>
            </a:r>
          </a:p>
          <a:p>
            <a:pPr>
              <a:spcBef>
                <a:spcPts val="6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동일 항목 대비 단가가 20% 이상 급등한 품목을 즉시 필터링하여 경고 발생</a:t>
            </a:r>
            <a:br/>
            <a:r>
              <a:t>• 기존 설치 수량 대비 현장 투입 수량 및 예비 버퍼(Buffer) 수량 정밀 교차 검증</a:t>
            </a:r>
            <a:br/>
            <a:r>
              <a:t>• 비적합 과다청구 항목을 1초 만에 삭감 요구서로 자동 집계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CORE ENGINE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광고주 10대 정산 FAQ 완벽 자동 격파 매트릭스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광고주가 묻기 전에 시스템이 먼저 검증하고, 지적 시 즉각 제출할 소명 패키지를 완성합니다.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5943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457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Malgun Gothic"/>
              </a:defRPr>
            </a:pPr>
            <a:r>
              <a:t>FAQ 01. 인력 투입률 과다  |  쟁점: 기획/개발/시공 인력 투입률 100~140% 초과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👉 AI 감리관 자동 소명: KIDP 5단계 품셈 + 근로기준법 월 20.83일 역산 산출식 자동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40864"/>
            <a:ext cx="10728655" cy="5943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86584"/>
            <a:ext cx="105457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Malgun Gothic"/>
              </a:defRPr>
            </a:pPr>
            <a:r>
              <a:t>FAQ 02. 야간 상주 필요성  |  쟁점: 야간/휴일 현장 상주 인건비 50% 가산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👉 AI 감리관 자동 소명: 근로기준법 제56조 + 주간 관람객 안전 통제 및 야간 시공 증빙 연동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90088"/>
            <a:ext cx="10728655" cy="5943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35808"/>
            <a:ext cx="105457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Malgun Gothic"/>
              </a:defRPr>
            </a:pPr>
            <a:r>
              <a:t>FAQ 03. 자재 단가 급등  |  쟁점: 기존 대비 단가 25% 이상 상승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👉 AI 감리관 자동 소명: 조달청 자재단가 + 우레탄 2색 조색도장 스펙 차이 정량 제시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39312"/>
            <a:ext cx="10728655" cy="5943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85032"/>
            <a:ext cx="105457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Malgun Gothic"/>
              </a:defRPr>
            </a:pPr>
            <a:r>
              <a:t>FAQ 07. 고가 디스플레이  |  쟁점: 43인치 상업용 디스플레이 단가 지적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👉 AI 감리관 자동 소명: 조달청 나라장터 상업용 500nit 고신뢰성 패널 표준가격 소명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88536"/>
            <a:ext cx="10728655" cy="5943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334255"/>
            <a:ext cx="105457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Malgun Gothic"/>
              </a:defRPr>
            </a:pPr>
            <a:r>
              <a:t>FAQ 08. 예비 버퍼 수량  |  쟁점: 견적 수량과 현장 설치 대수 차이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👉 AI 감리관 자동 소명: 전국 매장 긴급 교체용 Buffer 1대 계약 조항 및 보관비 분리 증빙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37760"/>
            <a:ext cx="10728655" cy="5943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983480"/>
            <a:ext cx="105457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Malgun Gothic"/>
              </a:defRPr>
            </a:pPr>
            <a:r>
              <a:t>FAQ 16. 키트별 단가 차이  |  쟁점: CXP 키트 vs 2억화소 키트 2배 차이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👉 AI 감리관 자동 소명: 2축 서보모터, 씬CMS, 암실 하우징 등 하드웨어 BOM 정량 분해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586983"/>
            <a:ext cx="10728655" cy="5943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632703"/>
            <a:ext cx="105457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  <a:latin typeface="Malgun Gothic"/>
              </a:defRPr>
            </a:pPr>
            <a:r>
              <a:t>FAQ 17. 앱 신규 개발비  |  쟁점: 기존 APK 재활용 불가 및 신규 청구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👉 AI 감리관 자동 소명: Android/Windows 신규 API 종속성 및 KOSA SW기술자 대가 증빙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CORE ENGINE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5대 축 정밀 분해 감리 및 신호등(🟢/🟡/🔴) 판정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단순한 숫자 비교가 아닌 [인력비·투입률·단가·제작비·승인절차] 5대 축으로 분해하여 판정합니다.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9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011680" cy="7772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① 인력비 축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KOSA/KIDP 노임 기준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13278" y="1691640"/>
            <a:ext cx="2011680" cy="7772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8998" y="17373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② 투입률 축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근로기준법 100% 원칙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95036" y="1691640"/>
            <a:ext cx="2011680" cy="7772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0756" y="17373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③ 단가 축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조달청 자재가·25% 급등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76795" y="1691640"/>
            <a:ext cx="2011680" cy="7772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22515" y="17373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④ 제작비 축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모터·소재·사양 변화 분해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58553" y="1691640"/>
            <a:ext cx="2011680" cy="7772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4273" y="17373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0E5FF"/>
                </a:solidFill>
                <a:latin typeface="Malgun Gothic"/>
              </a:defRPr>
            </a:pPr>
            <a:r>
              <a:t>⑤ 승인절차 축</a:t>
            </a:r>
          </a:p>
          <a:p>
            <a:pPr>
              <a:defRPr sz="950">
                <a:solidFill>
                  <a:srgbClr val="E2E8F0"/>
                </a:solidFill>
                <a:latin typeface="Malgun Gothic"/>
              </a:defRPr>
            </a:pPr>
            <a:r>
              <a:t>CR 변경승인 미확인 차단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697480"/>
            <a:ext cx="10728655" cy="105156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770632"/>
            <a:ext cx="10362895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0B981"/>
                </a:solidFill>
                <a:latin typeface="Malgun Gothic"/>
              </a:defRPr>
            </a:pPr>
            <a:r>
              <a:t>🟢 적합 (Pass)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기준: 기준 견적 대비 변동 없음 또는 공인 노임/단가 기준 부합</a:t>
            </a:r>
            <a:br/>
            <a:r>
              <a:t>• 자동 조치: 공공 기준 출처 및 품셈 산출식을 자동으로 첨부하여 무결점 통과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931920"/>
            <a:ext cx="10728655" cy="105156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10362895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EAB308"/>
                </a:solidFill>
                <a:latin typeface="Malgun Gothic"/>
              </a:defRPr>
            </a:pPr>
            <a:r>
              <a:t>🟡 조건부 적합 (Review)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기준: 야간 집중 투입(투입률 100~130%) 또는 사양 변경으로 인한 단가 상승 구간</a:t>
            </a:r>
            <a:br/>
            <a:r>
              <a:t>• 자동 조치: 담당자에게 야간 작업일보 및 변경 사양 소명서 템플릿 자동 발행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10728655" cy="105156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39512"/>
            <a:ext cx="10362895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EF4444"/>
                </a:solidFill>
                <a:latin typeface="Malgun Gothic"/>
              </a:defRPr>
            </a:pPr>
            <a:r>
              <a:t>🔴 비적합 (Fail / Cut)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기준: 공공 노임 초과, 투입률 140% 초과, CR 미승인/반려건 청구, 단가 급등</a:t>
            </a:r>
            <a:br/>
            <a:r>
              <a:t>• 자동 조치: 불합리 증액 규모를 전액 삭감 요구액으로 집계하고 시정요구서 발행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THE LIVE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24시간 365일 어디서나 접속 가능한 엔터프라이즈 라이브 클라우드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발표자 컴퓨터 전원 OFF 상태에서도 100% 무중단 가동되는 멀티 클라우드 프로덕션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10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1554480"/>
          </a:xfrm>
          <a:prstGeom prst="roundRect">
            <a:avLst/>
          </a:prstGeom>
          <a:solidFill>
            <a:srgbClr val="102041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Malgun Gothic"/>
              </a:defRPr>
            </a:pPr>
            <a:r>
              <a:t>🌐 공식 상용급 클라우드 글로벌 프로덕션 듀얼 도메인 가동 현황</a:t>
            </a:r>
          </a:p>
          <a:p>
            <a:pPr>
              <a:spcBef>
                <a:spcPts val="300"/>
              </a:spcBef>
              <a:defRPr sz="1400" b="1">
                <a:solidFill>
                  <a:srgbClr val="F59E0B"/>
                </a:solidFill>
                <a:latin typeface="Malgun Gothic"/>
              </a:defRPr>
            </a:pPr>
            <a:r>
              <a:t>★ 신규 도메인(견적감독관): https://ax-estimate-supervisor.onrender.com/ (총체적 종합의견 란 탑재)</a:t>
            </a:r>
          </a:p>
          <a:p>
            <a:pPr>
              <a:spcBef>
                <a:spcPts val="200"/>
              </a:spcBef>
              <a:defRPr sz="1200" b="1">
                <a:solidFill>
                  <a:srgbClr val="10B981"/>
                </a:solidFill>
                <a:latin typeface="Malgun Gothic"/>
              </a:defRPr>
            </a:pPr>
            <a:r>
              <a:t>★ 기존 도메인(견적감리관): https://ax-estimate-director.onrender.com/ (기존 도메인 24/7/365 유지)</a:t>
            </a:r>
          </a:p>
          <a:p>
            <a:pPr>
              <a:spcBef>
                <a:spcPts val="3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⚡ Zero Local Dependency: 사용자 PC 전원 종료 시에도 독립 운영 | Docker 가상화 자동 복구 | SSL 보안 암호화 완비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29000"/>
            <a:ext cx="3456432" cy="12801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520440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Malgun Gothic"/>
              </a:defRPr>
            </a:pPr>
            <a:r>
              <a:t>Tab 0. 견적감독관 종합진단실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종합 리스크 등급(🔴고위험/🟡주의/🟢적정), 부적정 삭감 목표액, 4대 공종 총평 및 3대 액션 플랜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3429000"/>
            <a:ext cx="3456432" cy="12801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520440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Malgun Gothic"/>
              </a:defRPr>
            </a:pPr>
            <a:r>
              <a:t>Tab 1. 신호등 정밀 감리표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적합/조건부/비적합 전수 판정, 공공 6대 기준 소명서 연계 및 공문서용 진단서 발행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3429000"/>
            <a:ext cx="3456432" cy="12801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1" y="3520440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Malgun Gothic"/>
              </a:defRPr>
            </a:pPr>
            <a:r>
              <a:t>Tab 2. 제작비 요인 분해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'왜 비싼가?' 원가 상승 동인을 자재비/공임/가공비 축으로 투명하게 분해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3456432" cy="12801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937759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Malgun Gothic"/>
              </a:defRPr>
            </a:pPr>
            <a:r>
              <a:t>Tab 4. 광고주 질의 대응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협력사/발주처 FAQ 질의에 1초 만에 공식 답변서 및 소명 가이드라인 생성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4846320"/>
            <a:ext cx="3456432" cy="12801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4937759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Malgun Gothic"/>
              </a:defRPr>
            </a:pPr>
            <a:r>
              <a:t>Tab 5. 비전 AI 견적 추정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시안/렌더링 이미지 단 1장으로 5대 공종 원가 산출 및 표준 견적서(XLSX) 자동 생성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4846320"/>
            <a:ext cx="3456432" cy="12801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1" y="4937759"/>
            <a:ext cx="323697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  <a:latin typeface="Malgun Gothic"/>
              </a:defRPr>
            </a:pPr>
            <a:r>
              <a:t>Tab 6. 과거 실적 자산화</a:t>
            </a:r>
          </a:p>
          <a:p>
            <a:pPr>
              <a:spcBef>
                <a:spcPts val="4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25.6억 원 44종 실물 키트 원가 DB 및 43종 실제 고화질 키트 사진 전수 탑재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BREAKTHROUGH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비전 AI 견적 산출기: 도면·사진 1장으로 10초 만에 공공 견적서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컴퓨터 비전이 규격·소재·가공 난이도를 자동 감지하여 6대 공공 기준 부합 XLSX 견적서를 즉시 발행합니다.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11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0136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Malgun Gothic"/>
              </a:defRPr>
            </a:pPr>
            <a:r>
              <a:t>01. 컴퓨터 비전 물리 속성 분석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이미지 해상도, 가로세로 비율(Aspect Ratio), 색상 표준편차 정밀 분석</a:t>
            </a:r>
            <a:br/>
            <a:r>
              <a:t>• 시각적 가공 복잡도(High/Standard/Low) 및 유형(키트/쇼케이스/팝업) 자동 추론</a:t>
            </a:r>
            <a:br/>
            <a:r>
              <a:t>• 갈바 스틸, 조광아크릴, LED 조명, 턴테이블 모터 등 주요 자재 자동 탐지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80136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Malgun Gothic"/>
              </a:defRPr>
            </a:pPr>
            <a:r>
              <a:t>02. 5대 공종 표준 견적서 자동 산출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I. 기획·디자인 원형개발비 (KIDP 디자이너 품셈 5단계 공정 분해)</a:t>
            </a:r>
            <a:br/>
            <a:r>
              <a:t>• II. 기구제작·자재비 (조달청 G2B 레이저커팅/NC절곡/우레탄 2색 도색)</a:t>
            </a:r>
            <a:br/>
            <a:r>
              <a:t>• III. 디지털·SW/HW (KOSA SW기술자 대가 임베디드 APK/CMS 제어 로직)</a:t>
            </a:r>
            <a:br/>
            <a:r>
              <a:t>• IV. 현장시공·노무비 (KBIZ 목공/전기 시중노임 + 근로기준법 야간할증 50%)</a:t>
            </a:r>
            <a:br/>
            <a:r>
              <a:t>• V. 제경비 및 기술료 (KENCA 엔지니어링 110% 제경비 및 20% 기술료)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4164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03. 3대 사양 등급 시나리오 비교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🟢 실속형 (Budget): 솔루션 재활용 및 기본 분체도장 (기준가 대비 82%)</a:t>
            </a:r>
            <a:br/>
            <a:r>
              <a:t>• 🔵 표준형 (Standard): 정부 고시 품셈 및 표준 시장가 준용 (기준가 100%)</a:t>
            </a:r>
            <a:br/>
            <a:r>
              <a:t>• 🟣 고급형 (Premium): 2축 서보모터, 우레탄 2색 조색, 43인치 사이니지 (128%)</a:t>
            </a:r>
            <a:br/>
            <a:r>
              <a:t>• 광고주 예산 범위에 맞춘 즉각적 사양 조율 협상 카드 제공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3192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404164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04. 1-클릭 제일기획 표준 서식 XLSX 다운로드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산출 즉시 수식(=SUM)과 법적 근거가 완비된 엑셀(.xlsx) 파일 생성</a:t>
            </a:r>
            <a:br/>
            <a:r>
              <a:t>• 공휴일/야간 할증 옵션, 예비 버퍼(Buffer) 수량 1대 포함 옵션 토글</a:t>
            </a:r>
            <a:br/>
            <a:r>
              <a:t>• '감리실 즉시 진단' 버튼 클릭 시 6대 공공 기준 100% 적합성 즉시 판정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BREAKTHROUGH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생성형 AI의 환각을 없애는 25.6억 원 실제 계약 백데이터 탑재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삼성전자/제일기획 S26·폴더블 44개 키트 실적과 43종 고화질 실물 사진을 에이전트 내부에 전수 구축했습니다.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4775" cy="10515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618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총 실적 키트</a:t>
            </a:r>
          </a:p>
          <a:p>
            <a:pPr>
              <a:defRPr sz="1700" b="1">
                <a:solidFill>
                  <a:srgbClr val="00E5FF"/>
                </a:solidFill>
                <a:latin typeface="Malgun Gothic"/>
              </a:defRPr>
            </a:pPr>
            <a:r>
              <a:t>44개 전수</a:t>
            </a:r>
          </a:p>
          <a:p>
            <a:pPr>
              <a:defRPr sz="850">
                <a:solidFill>
                  <a:srgbClr val="E2E8F0"/>
                </a:solidFill>
                <a:latin typeface="Malgun Gothic"/>
              </a:defRPr>
            </a:pPr>
            <a:r>
              <a:t>미라클 21종 + 폴더블 23종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175" y="1691640"/>
            <a:ext cx="2544775" cy="10515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0615" y="1737360"/>
            <a:ext cx="23618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총 정산 실적 예산</a:t>
            </a:r>
          </a:p>
          <a:p>
            <a:pPr>
              <a:defRPr sz="1700" b="1">
                <a:solidFill>
                  <a:srgbClr val="F59E0B"/>
                </a:solidFill>
                <a:latin typeface="Malgun Gothic"/>
              </a:defRPr>
            </a:pPr>
            <a:r>
              <a:t>25.6억 원</a:t>
            </a:r>
          </a:p>
          <a:p>
            <a:pPr>
              <a:defRPr sz="850">
                <a:solidFill>
                  <a:srgbClr val="E2E8F0"/>
                </a:solidFill>
                <a:latin typeface="Malgun Gothic"/>
              </a:defRPr>
            </a:pPr>
            <a:r>
              <a:t>₩2,559,542,725 계약 확정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6830" y="1691640"/>
            <a:ext cx="2544775" cy="10515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270" y="1737360"/>
            <a:ext cx="23618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원형개발비 합계</a:t>
            </a:r>
          </a:p>
          <a:p>
            <a:pPr>
              <a:defRPr sz="1700" b="1">
                <a:solidFill>
                  <a:srgbClr val="3B82F6"/>
                </a:solidFill>
                <a:latin typeface="Malgun Gothic"/>
              </a:defRPr>
            </a:pPr>
            <a:r>
              <a:t>13.6억 원</a:t>
            </a:r>
          </a:p>
          <a:p>
            <a:pPr>
              <a:defRPr sz="850">
                <a:solidFill>
                  <a:srgbClr val="E2E8F0"/>
                </a:solidFill>
                <a:latin typeface="Malgun Gothic"/>
              </a:defRPr>
            </a:pPr>
            <a:r>
              <a:t>기획/SW/UI/HW/영상 공종 분해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4485" y="1691640"/>
            <a:ext cx="2544775" cy="1051560"/>
          </a:xfrm>
          <a:prstGeom prst="roundRect">
            <a:avLst/>
          </a:prstGeom>
          <a:solidFill>
            <a:srgbClr val="121C34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5925" y="1737360"/>
            <a:ext cx="23618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제작비 합계</a:t>
            </a:r>
          </a:p>
          <a:p>
            <a:pPr>
              <a:defRPr sz="1700" b="1">
                <a:solidFill>
                  <a:srgbClr val="10B981"/>
                </a:solidFill>
                <a:latin typeface="Malgun Gothic"/>
              </a:defRPr>
            </a:pPr>
            <a:r>
              <a:t>12.0억 원</a:t>
            </a:r>
          </a:p>
          <a:p>
            <a:pPr>
              <a:defRPr sz="850">
                <a:solidFill>
                  <a:srgbClr val="E2E8F0"/>
                </a:solidFill>
                <a:latin typeface="Malgun Gothic"/>
              </a:defRPr>
            </a:pPr>
            <a:r>
              <a:t>강남/홍대/청담 개소별 단가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880360"/>
            <a:ext cx="2544775" cy="33375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02_퍼포먼스_비교_키트__CXP_비교_키트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99232"/>
            <a:ext cx="2270455" cy="1371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1248" y="4434840"/>
            <a:ext cx="2322576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0E5FF"/>
                </a:solidFill>
                <a:latin typeface="Malgun Gothic"/>
              </a:defRPr>
            </a:pPr>
            <a:r>
              <a:t>M02 CXP 비교 키트</a:t>
            </a:r>
          </a:p>
          <a:p>
            <a:pPr>
              <a:spcBef>
                <a:spcPts val="200"/>
              </a:spcBef>
              <a:defRPr sz="950" b="1">
                <a:solidFill>
                  <a:srgbClr val="F59E0B"/>
                </a:solidFill>
                <a:latin typeface="Malgun Gothic"/>
              </a:defRPr>
            </a:pPr>
            <a:r>
              <a:t>실제 ₩214.9M (원형 1.17억 / 제작 9,720만)</a:t>
            </a:r>
          </a:p>
          <a:p>
            <a:pPr>
              <a:spcBef>
                <a:spcPts val="300"/>
              </a:spcBef>
              <a:defRPr sz="850">
                <a:solidFill>
                  <a:srgbClr val="E2E8F0"/>
                </a:solidFill>
                <a:latin typeface="Malgun Gothic"/>
              </a:defRPr>
            </a:pPr>
            <a:r>
              <a:t>43인치 디스플레이 매립, CNC 머시닝 가공, 우레탄 2색 도장, 씬CMS 연동 (127.2 M/D)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59175" y="2880360"/>
            <a:ext cx="2544775" cy="33375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03_2억화소_키트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335" y="2999232"/>
            <a:ext cx="2270455" cy="1371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68903" y="4434840"/>
            <a:ext cx="2322576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0E5FF"/>
                </a:solidFill>
                <a:latin typeface="Malgun Gothic"/>
              </a:defRPr>
            </a:pPr>
            <a:r>
              <a:t>M03 2억화소 암실 키트</a:t>
            </a:r>
          </a:p>
          <a:p>
            <a:pPr>
              <a:spcBef>
                <a:spcPts val="200"/>
              </a:spcBef>
              <a:defRPr sz="950" b="1">
                <a:solidFill>
                  <a:srgbClr val="F59E0B"/>
                </a:solidFill>
                <a:latin typeface="Malgun Gothic"/>
              </a:defRPr>
            </a:pPr>
            <a:r>
              <a:t>실제 ₩65.9M (원형 2,846만 / 제작 3,750만)</a:t>
            </a:r>
          </a:p>
          <a:p>
            <a:pPr>
              <a:spcBef>
                <a:spcPts val="300"/>
              </a:spcBef>
              <a:defRPr sz="850">
                <a:solidFill>
                  <a:srgbClr val="E2E8F0"/>
                </a:solidFill>
                <a:latin typeface="Malgun Gothic"/>
              </a:defRPr>
            </a:pPr>
            <a:r>
              <a:t>특수 암실 챔버 하우징, 조도센서 연동 제어, 카메라 비교 모듈 (49.8 M/D)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6830" y="2880360"/>
            <a:ext cx="2544775" cy="33375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03_B8_교자상__플립샷_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990" y="2999232"/>
            <a:ext cx="2270455" cy="1371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96558" y="4434840"/>
            <a:ext cx="2322576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0E5FF"/>
                </a:solidFill>
                <a:latin typeface="Malgun Gothic"/>
              </a:defRPr>
            </a:pPr>
            <a:r>
              <a:t>F03 B8 교자상 플립샷</a:t>
            </a:r>
          </a:p>
          <a:p>
            <a:pPr>
              <a:spcBef>
                <a:spcPts val="200"/>
              </a:spcBef>
              <a:defRPr sz="950" b="1">
                <a:solidFill>
                  <a:srgbClr val="F59E0B"/>
                </a:solidFill>
                <a:latin typeface="Malgun Gothic"/>
              </a:defRPr>
            </a:pPr>
            <a:r>
              <a:t>실제 ₩46.8M (원형 3,579만 / 제작 1,104만)</a:t>
            </a:r>
          </a:p>
          <a:p>
            <a:pPr>
              <a:spcBef>
                <a:spcPts val="300"/>
              </a:spcBef>
              <a:defRPr sz="850">
                <a:solidFill>
                  <a:srgbClr val="E2E8F0"/>
                </a:solidFill>
                <a:latin typeface="Malgun Gothic"/>
              </a:defRPr>
            </a:pPr>
            <a:r>
              <a:t>한국 전통 교자상 맞춤 목공, 플립 각도 감응 센서, 포토존 연동 (58.0 M/D)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4485" y="2880360"/>
            <a:ext cx="2544775" cy="3337560"/>
          </a:xfrm>
          <a:prstGeom prst="roundRect">
            <a:avLst/>
          </a:prstGeom>
          <a:solidFill>
            <a:srgbClr val="182038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01_H8_모뉴먼트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1645" y="2999232"/>
            <a:ext cx="2270455" cy="1371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024213" y="4434840"/>
            <a:ext cx="2322576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0E5FF"/>
                </a:solidFill>
                <a:latin typeface="Malgun Gothic"/>
              </a:defRPr>
            </a:pPr>
            <a:r>
              <a:t>F01 H8 모뉴먼트 구조물</a:t>
            </a:r>
          </a:p>
          <a:p>
            <a:pPr>
              <a:spcBef>
                <a:spcPts val="200"/>
              </a:spcBef>
              <a:defRPr sz="950" b="1">
                <a:solidFill>
                  <a:srgbClr val="F59E0B"/>
                </a:solidFill>
                <a:latin typeface="Malgun Gothic"/>
              </a:defRPr>
            </a:pPr>
            <a:r>
              <a:t>실제 ₩85.6M (원형 1,967만 / 제작 6,590만)</a:t>
            </a:r>
          </a:p>
          <a:p>
            <a:pPr>
              <a:spcBef>
                <a:spcPts val="300"/>
              </a:spcBef>
              <a:defRPr sz="850">
                <a:solidFill>
                  <a:srgbClr val="E2E8F0"/>
                </a:solidFill>
                <a:latin typeface="Malgun Gothic"/>
              </a:defRPr>
            </a:pPr>
            <a:r>
              <a:t>대형 모뉴먼트 갈바 프레임 레이저 가공, 백라이트 파사드 연출 (35.0 M/D)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BREAKTHROUGH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지상 진실(Ground-Truth) 벤치마크 매칭 &amp; 데이터 플라이휠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과거 실적 대비 ±3% 이내 정합성 검증 &amp; 프로젝트가 끝날 때마다 더 똑똑해지는 학습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13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0136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Malgun Gothic"/>
              </a:defRPr>
            </a:pPr>
            <a:r>
              <a:t>01. 지상 진실(Ground-Truth) 1:1 대조 엔진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비전 AI로 산출한 예상 견적을 과거 유사 실제 키트 실적과 다차원 매칭</a:t>
            </a:r>
            <a:br/>
            <a:r>
              <a:t>• 총 견적, 원형개발비, 1개소당 제작비, 투입 M/D를 지상 진실(Ground Truth)과 1:1 대조</a:t>
            </a:r>
            <a:br/>
            <a:r>
              <a:t>• '실제 과거 CXP 키트 실적(2.14억) 대비 오차율 ±3.2% 이내 정합'을 정량 증빙</a:t>
            </a:r>
            <a:br/>
            <a:r>
              <a:t>• AI 견적의 신뢰도를 실증 데이터로 100% 뒷받침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80136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Malgun Gothic"/>
              </a:defRPr>
            </a:pPr>
            <a:r>
              <a:t>02. 하드웨어 BOM &amp; 공정 정밀 매칭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CNC 정밀 머시닝, 3차원 형상 정삭, 우레탄 2색 조색도장(FAQ 03)</a:t>
            </a:r>
            <a:br/>
            <a:r>
              <a:t>• 43인치 상업용 디스플레이, 2축 서보 턴테이블, SMPS 전원 배선 일체화</a:t>
            </a:r>
            <a:br/>
            <a:r>
              <a:t>• 실제 공정 세부작업 사항과 단가를 대조하여 과소/과다 계상 사전 차단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4164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03. Case-Based Reasoning(CBR) 데이터 플라이휠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프로젝트가 끝날 때마다 정산 완료된 실물 사진과 확정 단가를 에이전트에 영구 학습</a:t>
            </a:r>
            <a:br/>
            <a:r>
              <a:t>• 학습된 데이터는 영구 JSON DB에 누적되어 다음 유사 프로젝트 견적 시 즉시 검색/참조</a:t>
            </a:r>
            <a:br/>
            <a:r>
              <a:t>• 쓸수록 똑똑해지고 정밀해지는 제일기획만의 독점적 '견적 인텔리전스 자산화'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3192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404164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04. 심사위원 &amp; 광고주 대상 압도적 신뢰도 확보</a:t>
            </a:r>
          </a:p>
          <a:p>
            <a:pPr>
              <a:spcBef>
                <a:spcPts val="6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'왜 이 금액이 나왔는가?'에 대해 '과거 S26 프로젝트의 동일 사양 실제 정산 실적'을 제시</a:t>
            </a:r>
            <a:br/>
            <a:r>
              <a:t>• 공공 표준 품셈 + 제일기획 실제 과거 실적의 '이중 방어벽(Dual Firewall)' 구축</a:t>
            </a:r>
            <a:br/>
            <a:r>
              <a:t>• 광고주의 의구심을 원천 차단하고 1회차 무수정 승인 보장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FIELD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실제 삼성전자 / 제일기획 4대 기준견적서 실전 감리 검증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실제 현업 데이터 4종을 투입하여 비적합 과다청구 적발 및 공공 기준 소명 능력을 실증했습니다.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14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0136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Case 1. S26 Miracle 키트/컨텐츠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1-1. 개발 상세 시트 10개 항목</a:t>
            </a:r>
          </a:p>
          <a:p>
            <a:pPr>
              <a:spcBef>
                <a:spcPts val="5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결과: 총 10건 중 10건 적합 판정 (100% 공공 노임 준수)</a:t>
            </a:r>
            <a:br/>
            <a:r>
              <a:t>• 증빙: KOSA 및 KIDP 고시 노임단가 범위 내 정합성 공식 입증</a:t>
            </a:r>
            <a:br/>
            <a:r>
              <a:t>• 효과: 광고주 의구심 사전 해소로 1회차 무수정 승인 달성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80136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  <a:latin typeface="Malgun Gothic"/>
              </a:defRPr>
            </a:pPr>
            <a:r>
              <a:t>Case 2. 홍대점 집기제작 &amp; 전시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● 홍대점_거래명세서 48개 항목</a:t>
            </a:r>
          </a:p>
          <a:p>
            <a:pPr>
              <a:spcBef>
                <a:spcPts val="5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결과: 미승인 변경건 2건 적발 (불합리 증액 ₩2,400만 원 차단)</a:t>
            </a:r>
            <a:br/>
            <a:r>
              <a:t>• 증빙: CR(변경승인) 미확인 항목 신호등 빨간불 표시 및 삭감 요구</a:t>
            </a:r>
            <a:br/>
            <a:r>
              <a:t>• 효과: 프로젝트 예산 누수 원천 차단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4164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AB308"/>
                </a:solidFill>
                <a:latin typeface="Malgun Gothic"/>
              </a:defRPr>
            </a:pPr>
            <a:r>
              <a:t>Case 3. 프로야구 KBO 베뉴 키트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야구 키트 및 원형 개발 시트</a:t>
            </a:r>
          </a:p>
          <a:p>
            <a:pPr>
              <a:spcBef>
                <a:spcPts val="5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결과: 야간 설치 투입률 120% 초과 구간 자동 탐지</a:t>
            </a:r>
            <a:br/>
            <a:r>
              <a:t>• 증빙: 근로기준법 제56조 야간할증 및 현장 출장 사유서 자동 연계</a:t>
            </a:r>
            <a:br/>
            <a:r>
              <a:t>• 효과: 광고주의 '야간상주 필요성' 질의(FAQ 02) 원스톱 방어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931920"/>
            <a:ext cx="5257800" cy="2103120"/>
          </a:xfrm>
          <a:prstGeom prst="roundRect">
            <a:avLst/>
          </a:prstGeom>
          <a:solidFill>
            <a:srgbClr val="182038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4041648"/>
            <a:ext cx="49834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Malgun Gothic"/>
              </a:defRPr>
            </a:pPr>
            <a:r>
              <a:t>Case 4. 삼성 사업장 전시 &amp; 인건비</a:t>
            </a:r>
          </a:p>
          <a:p>
            <a:pPr>
              <a:defRPr sz="950">
                <a:solidFill>
                  <a:srgbClr val="94A3B8"/>
                </a:solidFill>
                <a:latin typeface="Malgun Gothic"/>
              </a:defRPr>
            </a:pPr>
            <a:r>
              <a:t>수원/기흥 사업장 &amp; 인건비 공통</a:t>
            </a:r>
          </a:p>
          <a:p>
            <a:pPr>
              <a:spcBef>
                <a:spcPts val="5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결과: 수식 누락 및 하드코딩 단가 3건 자동 적발</a:t>
            </a:r>
            <a:br/>
            <a:r>
              <a:t>• 증빙: '수량 × 단가 != 금액' 오류를 견적 제출 전 사전 보정</a:t>
            </a:r>
            <a:br/>
            <a:r>
              <a:t>• 효과: 광고주 양식 지적(FAQ 10) 사전 100% 예방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검토는 3분 만에, 재질의는 0건으로, 정산은 즉시 완료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AX(인공지능 전환)가 가져온 제일기획 견적·정산 업무의 정량적 혁신 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15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704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Malgun Gothic"/>
              </a:defRPr>
            </a:pPr>
            <a:r>
              <a:t>⏱️ 견적 검토 시간</a:t>
            </a:r>
          </a:p>
          <a:p>
            <a:pPr>
              <a:spcBef>
                <a:spcPts val="800"/>
              </a:spcBef>
              <a:defRPr sz="3200" b="1">
                <a:solidFill>
                  <a:srgbClr val="00E5FF"/>
                </a:solidFill>
                <a:latin typeface="Malgun Gothic"/>
              </a:defRPr>
            </a:pPr>
            <a:r>
              <a:t>96% 단축</a:t>
            </a:r>
          </a:p>
          <a:p>
            <a:pPr>
              <a:spcBef>
                <a:spcPts val="400"/>
              </a:spcBef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기존 2일 (16시간) → AI 3분 완료</a:t>
            </a:r>
          </a:p>
          <a:p>
            <a:pPr>
              <a:spcBef>
                <a:spcPts val="10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수작업 엑셀 대조 및 셀프 체크리스트 자동화로 신속한 견적 감리 종결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175" y="169164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6335" y="1874519"/>
            <a:ext cx="22704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Malgun Gothic"/>
              </a:defRPr>
            </a:pPr>
            <a:r>
              <a:t>💬 광고주 재질의율</a:t>
            </a:r>
          </a:p>
          <a:p>
            <a:pPr>
              <a:spcBef>
                <a:spcPts val="800"/>
              </a:spcBef>
              <a:defRPr sz="3200" b="1">
                <a:solidFill>
                  <a:srgbClr val="F59E0B"/>
                </a:solidFill>
                <a:latin typeface="Malgun Gothic"/>
              </a:defRPr>
            </a:pPr>
            <a:r>
              <a:t>85% 격감</a:t>
            </a:r>
          </a:p>
          <a:p>
            <a:pPr>
              <a:spcBef>
                <a:spcPts val="400"/>
              </a:spcBef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기존 45% 발생 → 5% 이하 달성</a:t>
            </a:r>
          </a:p>
          <a:p>
            <a:pPr>
              <a:spcBef>
                <a:spcPts val="10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FAQ 10대 유형별 사전 증빙 패키징으로 불필요한 반복 소명 차단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6830" y="169164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3990" y="1874519"/>
            <a:ext cx="22704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Malgun Gothic"/>
              </a:defRPr>
            </a:pPr>
            <a:r>
              <a:t>💰 예산 누수 방지</a:t>
            </a:r>
          </a:p>
          <a:p>
            <a:pPr>
              <a:spcBef>
                <a:spcPts val="800"/>
              </a:spcBef>
              <a:defRPr sz="3200" b="1">
                <a:solidFill>
                  <a:srgbClr val="EF4444"/>
                </a:solidFill>
                <a:latin typeface="Malgun Gothic"/>
              </a:defRPr>
            </a:pPr>
            <a:r>
              <a:t>5~12% 삭감</a:t>
            </a:r>
          </a:p>
          <a:p>
            <a:pPr>
              <a:spcBef>
                <a:spcPts val="400"/>
              </a:spcBef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프로젝트당 수천만~수억 원 절감</a:t>
            </a:r>
          </a:p>
          <a:p>
            <a:pPr>
              <a:spcBef>
                <a:spcPts val="10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미승인 변경건 및 140% 초과 과다청구 즉시 삭감으로 프로젝트 수익률 수호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4485" y="169164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1645" y="1874519"/>
            <a:ext cx="22704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Malgun Gothic"/>
              </a:defRPr>
            </a:pPr>
            <a:r>
              <a:t>🚀 대금 회수 리드타임</a:t>
            </a:r>
          </a:p>
          <a:p>
            <a:pPr>
              <a:spcBef>
                <a:spcPts val="800"/>
              </a:spcBef>
              <a:defRPr sz="3200" b="1">
                <a:solidFill>
                  <a:srgbClr val="10B981"/>
                </a:solidFill>
                <a:latin typeface="Malgun Gothic"/>
              </a:defRPr>
            </a:pPr>
            <a:r>
              <a:t>3주 단축</a:t>
            </a:r>
          </a:p>
          <a:p>
            <a:pPr>
              <a:spcBef>
                <a:spcPts val="400"/>
              </a:spcBef>
              <a:defRPr sz="1000" b="1">
                <a:solidFill>
                  <a:srgbClr val="F59E0B"/>
                </a:solidFill>
                <a:latin typeface="Malgun Gothic"/>
              </a:defRPr>
            </a:pPr>
            <a:r>
              <a:t>기존 4주 소요 → 1주일 내 입금</a:t>
            </a:r>
          </a:p>
          <a:p>
            <a:pPr>
              <a:spcBef>
                <a:spcPts val="10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1회차 정산 종결을 통한 협력사 정산 분쟁 해소 및 전사 캐시플로우 혁신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FUTURE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한국을 넘어 글로벌 베뉴로, 전사 견적 인텔리전스로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단일 프로젝트 감리에 머물지 않고 전사 표준 단가 DB 자산화 및 글로벌 롤아웃을 추진합니다.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16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56432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31821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Malgun Gothic"/>
              </a:defRPr>
            </a:pPr>
            <a:r>
              <a:t>Phase 1 (현재)</a:t>
            </a:r>
          </a:p>
          <a:p>
            <a:pPr>
              <a:spcBef>
                <a:spcPts val="400"/>
              </a:spcBef>
              <a:defRPr sz="1350" b="1">
                <a:solidFill>
                  <a:srgbClr val="FFFFFF"/>
                </a:solidFill>
                <a:latin typeface="Malgun Gothic"/>
              </a:defRPr>
            </a:pPr>
            <a:r>
              <a:t>국내 스마트 리테일 &amp; 전시 감리 완성</a:t>
            </a:r>
          </a:p>
          <a:p>
            <a:pPr>
              <a:spcBef>
                <a:spcPts val="10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S26 &amp; 폴더블 44개 키트 백데이터 탑재</a:t>
            </a:r>
            <a:br/>
            <a:r>
              <a:t>• 6대 공공 기준 연동 및 10대 FAQ 자동 소명</a:t>
            </a:r>
            <a:br/>
            <a:r>
              <a:t>• Render.com 24/7/365 글로벌 무중단 서비스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691640"/>
            <a:ext cx="3456432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874519"/>
            <a:ext cx="31821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Malgun Gothic"/>
              </a:defRPr>
            </a:pPr>
            <a:r>
              <a:t>Phase 2 (2026. 4Q)</a:t>
            </a:r>
          </a:p>
          <a:p>
            <a:pPr>
              <a:spcBef>
                <a:spcPts val="400"/>
              </a:spcBef>
              <a:defRPr sz="1350" b="1">
                <a:solidFill>
                  <a:srgbClr val="FFFFFF"/>
                </a:solidFill>
                <a:latin typeface="Malgun Gothic"/>
              </a:defRPr>
            </a:pPr>
            <a:r>
              <a:t>글로벌 거점(북미/유럽/동남아) 통화 연동</a:t>
            </a:r>
          </a:p>
          <a:p>
            <a:pPr>
              <a:spcBef>
                <a:spcPts val="10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USD($), EUR(€), GBP(£) 다국어/다통화 감리</a:t>
            </a:r>
            <a:br/>
            <a:r>
              <a:t>• 현지 노임(RSMeans, BLS 노임) DB 탑재</a:t>
            </a:r>
            <a:br/>
            <a:r>
              <a:t>• 글로벌 언팩 및 IFA/CES 베뉴 전격 적용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691640"/>
            <a:ext cx="3456432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1874519"/>
            <a:ext cx="318211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Phase 3 (2027. 1H)</a:t>
            </a:r>
          </a:p>
          <a:p>
            <a:pPr>
              <a:spcBef>
                <a:spcPts val="400"/>
              </a:spcBef>
              <a:defRPr sz="1350" b="1">
                <a:solidFill>
                  <a:srgbClr val="FFFFFF"/>
                </a:solidFill>
                <a:latin typeface="Malgun Gothic"/>
              </a:defRPr>
            </a:pPr>
            <a:r>
              <a:t>전사 견적 데이터 인텔리전스 플라이휠</a:t>
            </a:r>
          </a:p>
          <a:p>
            <a:pPr>
              <a:spcBef>
                <a:spcPts val="1000"/>
              </a:spcBef>
              <a:defRPr sz="1000">
                <a:solidFill>
                  <a:srgbClr val="E2E8F0"/>
                </a:solidFill>
                <a:latin typeface="Malgun Gothic"/>
              </a:defRPr>
            </a:pPr>
            <a:r>
              <a:t>• 협력사별 견적 정확도 및 리스크 스코어링</a:t>
            </a:r>
            <a:br/>
            <a:r>
              <a:t>• 견적서 업로드 즉시 적정 실행예산 자동 예측</a:t>
            </a:r>
            <a:br/>
            <a:r>
              <a:t>• 제일기획 고유의 독점적 견적 지식 자산화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320040"/>
          </a:xfrm>
          <a:prstGeom prst="roundRect">
            <a:avLst/>
          </a:prstGeom>
          <a:solidFill>
            <a:srgbClr val="0F1C3C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00E5FF"/>
                </a:solidFill>
                <a:latin typeface="Malgun Gothic"/>
              </a:defRPr>
            </a:pPr>
            <a:r>
              <a:t>★ 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Malgun Gothic"/>
              </a:defRPr>
            </a:pPr>
            <a:r>
              <a:t>심사위원 3분 현장 라이브 시연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94A3B8"/>
                </a:solidFill>
                <a:latin typeface="Malgun Gothic"/>
              </a:defRPr>
            </a:pPr>
            <a:r>
              <a:t>심사위원께서 현장에서 직접 확인하실 수 있는 4단계 실시간 감리 시연 동선입니다.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A6982"/>
                </a:solidFill>
                <a:latin typeface="Malgun Gothic"/>
              </a:defRPr>
            </a:pPr>
            <a:r>
              <a:t>2026 제일기획 AX 경진대회 대상 출품작 | AI 견적감독관 (Estimate Auditor &amp; Director) | Slide 17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704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E5FF"/>
                </a:solidFill>
                <a:latin typeface="Malgun Gothic"/>
              </a:defRPr>
            </a:pPr>
            <a:r>
              <a:t>Step 1. 24시간 클라우드 접속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https://ax-estimate-director.onrender.com/</a:t>
            </a:r>
          </a:p>
          <a:p>
            <a:pPr>
              <a:spcBef>
                <a:spcPts val="10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심사위원 스마트폰 또는 노트북으로 접속</a:t>
            </a:r>
            <a:br/>
            <a:r>
              <a:t>• PC OFF 상태에서도 1초 만에 로딩 확인</a:t>
            </a:r>
            <a:br/>
            <a:r>
              <a:t>• 직관적인 다크 하이테크 UI/UX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175" y="169164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6335" y="1874519"/>
            <a:ext cx="22704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Malgun Gothic"/>
              </a:defRPr>
            </a:pPr>
            <a:r>
              <a:t>Step 2. 엑셀 업로드 &amp; 3초 진단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Tab 0. 견적 진단·감리실</a:t>
            </a:r>
          </a:p>
          <a:p>
            <a:pPr>
              <a:spcBef>
                <a:spcPts val="10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실제 샘플 견적서 1-클릭 선택</a:t>
            </a:r>
            <a:br/>
            <a:r>
              <a:t>• 3초 만에 48개 항목 전수 감리</a:t>
            </a:r>
            <a:br/>
            <a:r>
              <a:t>• 🟢 적합 / 🟡 조건부 / 🔴 삭감 카드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6830" y="169164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3990" y="1874519"/>
            <a:ext cx="22704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algun Gothic"/>
              </a:defRPr>
            </a:pPr>
            <a:r>
              <a:t>Step 3. 비전 AI 견적 산출 시연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Tab 5. 비전 AI 견적 산출기</a:t>
            </a:r>
          </a:p>
          <a:p>
            <a:pPr>
              <a:spcBef>
                <a:spcPts val="10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키트 실물 사진/도면 1장 투입</a:t>
            </a:r>
            <a:br/>
            <a:r>
              <a:t>• 10초 만에 5대 공종 견적서 자동 산출</a:t>
            </a:r>
            <a:br/>
            <a:r>
              <a:t>• 실제 S26 CXP 키트 실적과 1:1 대조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4485" y="1691640"/>
            <a:ext cx="2544775" cy="4389120"/>
          </a:xfrm>
          <a:prstGeom prst="roundRect">
            <a:avLst/>
          </a:prstGeom>
          <a:solidFill>
            <a:srgbClr val="182038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1645" y="1874519"/>
            <a:ext cx="227045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algun Gothic"/>
              </a:defRPr>
            </a:pPr>
            <a:r>
              <a:t>Step 4. 소명서 &amp; XLSX 다운로드</a:t>
            </a:r>
          </a:p>
          <a:p>
            <a:pPr>
              <a:spcBef>
                <a:spcPts val="300"/>
              </a:spcBef>
              <a:defRPr sz="1050" b="1">
                <a:solidFill>
                  <a:srgbClr val="FFFFFF"/>
                </a:solidFill>
                <a:latin typeface="Malgun Gothic"/>
              </a:defRPr>
            </a:pPr>
            <a:r>
              <a:t>Tab 4. 광고주 질의 대응</a:t>
            </a:r>
          </a:p>
          <a:p>
            <a:pPr>
              <a:spcBef>
                <a:spcPts val="1000"/>
              </a:spcBef>
              <a:defRPr sz="950">
                <a:solidFill>
                  <a:srgbClr val="E2E8F0"/>
                </a:solidFill>
                <a:latin typeface="Malgun Gothic"/>
              </a:defRPr>
            </a:pPr>
            <a:r>
              <a:t>• 광고주 10대 FAQ 유형별 1초 소명서 생성</a:t>
            </a:r>
            <a:br/>
            <a:r>
              <a:t>• 6대 공공 기준 산출식 완비 엑셀 다운로드</a:t>
            </a:r>
            <a:br/>
            <a:r>
              <a:t>• 실전 업무 적용성 100% 실증 종결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303520"/>
          </a:xfrm>
          <a:prstGeom prst="roundRect">
            <a:avLst/>
          </a:prstGeom>
          <a:solidFill>
            <a:srgbClr val="10193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59E0B"/>
                </a:solidFill>
                <a:latin typeface="Malgun Gothic"/>
              </a:defRPr>
            </a:pPr>
            <a:r>
              <a:t>🏆 대상(Grand Prize) 수상의 압도적 당위성</a:t>
            </a:r>
          </a:p>
          <a:p>
            <a:pPr>
              <a:spcBef>
                <a:spcPts val="1000"/>
              </a:spcBef>
              <a:defRPr sz="1700" b="1">
                <a:solidFill>
                  <a:srgbClr val="00E5FF"/>
                </a:solidFill>
                <a:latin typeface="Malgun Gothic"/>
              </a:defRPr>
            </a:pPr>
            <a:r>
              <a:t>"가장 치열한 정산의 현장에서, 가장 완벽한 AX의 실천을 증명했습니다."</a:t>
            </a:r>
          </a:p>
          <a:p>
            <a:pPr>
              <a:spcBef>
                <a:spcPts val="1200"/>
              </a:spcBef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1. 아이디어가 아닌 100% 라이브 가동 중인 실전 서비스</a:t>
            </a:r>
          </a:p>
          <a:p>
            <a:pPr>
              <a:spcBef>
                <a:spcPts val="200"/>
              </a:spcBef>
              <a:defRPr sz="1050">
                <a:solidFill>
                  <a:srgbClr val="E2E8F0"/>
                </a:solidFill>
                <a:latin typeface="Malgun Gothic"/>
              </a:defRPr>
            </a:pPr>
            <a:r>
              <a:t>https://ax-estimate-director.onrender.com/ 에서 내 PC가 꺼져 있어도 24시간 365일 전 세계 어디서나 즉시 구동됩니다.</a:t>
            </a:r>
          </a:p>
          <a:p>
            <a:pPr>
              <a:spcBef>
                <a:spcPts val="1200"/>
              </a:spcBef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2. 광고주 10대 정산 전쟁의 모든 페인포인트를 1:1로 해결한 완벽한 비즈니스 로직</a:t>
            </a:r>
          </a:p>
          <a:p>
            <a:pPr>
              <a:spcBef>
                <a:spcPts val="200"/>
              </a:spcBef>
              <a:defRPr sz="1050">
                <a:solidFill>
                  <a:srgbClr val="E2E8F0"/>
                </a:solidFill>
                <a:latin typeface="Malgun Gothic"/>
              </a:defRPr>
            </a:pPr>
            <a:r>
              <a:t>실제 FAQ 86건 전수 분석을 기반으로 감성적 설득이 아닌 법적·공학적 팩트 방어 체계를 확립했습니다.</a:t>
            </a:r>
          </a:p>
          <a:p>
            <a:pPr>
              <a:spcBef>
                <a:spcPts val="1200"/>
              </a:spcBef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3. 비전 AI + 25.6억 실적 백데이터 + 6대 국가 표준 결합의 기술적 완성도</a:t>
            </a:r>
          </a:p>
          <a:p>
            <a:pPr>
              <a:spcBef>
                <a:spcPts val="200"/>
              </a:spcBef>
              <a:defRPr sz="1050">
                <a:solidFill>
                  <a:srgbClr val="E2E8F0"/>
                </a:solidFill>
                <a:latin typeface="Malgun Gothic"/>
              </a:defRPr>
            </a:pPr>
            <a:r>
              <a:t>도면·사진 1장으로 10초 만에 공공 견적서를 산출하고, S26/폴더블 44개 키트 실적과 대조하여 오차를 검증합니다.</a:t>
            </a:r>
          </a:p>
          <a:p>
            <a:pPr>
              <a:spcBef>
                <a:spcPts val="1200"/>
              </a:spcBef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4. 연간 수백억 원의 제작비 정산 시간을 96% 단축하고 예산 누수를 차단하는 압도적 ROI</a:t>
            </a:r>
          </a:p>
          <a:p>
            <a:pPr>
              <a:spcBef>
                <a:spcPts val="200"/>
              </a:spcBef>
              <a:defRPr sz="1050">
                <a:solidFill>
                  <a:srgbClr val="E2E8F0"/>
                </a:solidFill>
                <a:latin typeface="Malgun Gothic"/>
              </a:defRPr>
            </a:pPr>
            <a:r>
              <a:t>단 1회 사용만으로도 불합리 증액 수천만 원을 차단하고 대금 회수를 3주 단축시키는 실질적 비즈니스 파급력을 입증했습니다.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